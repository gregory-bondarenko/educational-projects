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7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9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0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1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8" r:id="rId6"/>
    <p:sldId id="261" r:id="rId7"/>
    <p:sldId id="262" r:id="rId8"/>
    <p:sldId id="269" r:id="rId9"/>
    <p:sldId id="270" r:id="rId10"/>
    <p:sldId id="263" r:id="rId11"/>
    <p:sldId id="264" r:id="rId12"/>
    <p:sldId id="271" r:id="rId13"/>
    <p:sldId id="272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-58" y="21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Цели, задачи, объект и предмет курсовой работы</a:t>
          </a:r>
          <a:endParaRPr/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105223">
        <dgm:presLayoutVars>
          <dgm:chMax val="0"/>
          <dgm:bulletEnabled val="1"/>
        </dgm:presLayoutVars>
      </dgm:prSet>
      <dgm:spPr bwMode="auto"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7BFF0A-E867-4E91-B589-EFE067746E3F}" type="doc">
      <dgm:prSet loTypeId="urn:microsoft.com/office/officeart/2005/8/layout/vList2" loCatId="list" qsTypeId="urn:microsoft.com/office/officeart/2005/8/quickstyle/simple5" qsCatId="simple" csTypeId="urn:microsoft.com/office/officeart/2005/8/colors/colorful3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121FE210-1A5F-436B-B4CD-FBA38054CEA2}">
      <dgm:prSet phldrT="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 bwMode="auto"/>
      <dgm:t>
        <a:bodyPr/>
        <a:lstStyle/>
        <a:p>
          <a:pPr>
            <a:defRPr/>
          </a:pPr>
          <a:r>
            <a:rPr lang="ru-RU">
              <a:latin typeface="Times New Roman"/>
              <a:cs typeface="Times New Roman"/>
            </a:rPr>
            <a:t>Цель курсовой работы:</a:t>
          </a:r>
          <a:endParaRPr/>
        </a:p>
      </dgm:t>
    </dgm:pt>
    <dgm:pt modelId="{9AA93DCD-B412-46CD-A604-FDC708E3DA11}" type="parTrans" cxnId="{E795540D-08ED-4A01-8425-4F40B7BE4F0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7A6909FB-160F-47F4-BBFA-014B1503251C}" type="sibTrans" cxnId="{E795540D-08ED-4A01-8425-4F40B7BE4F0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24AB4BC9-AC54-4948-A870-EADE149C2B32}">
      <dgm:prSet phldrT="" custT="1"/>
      <dgm:spPr bwMode="auto"/>
      <dgm:t>
        <a:bodyPr vertOverflow="overflow" horzOverflow="overflow" vert="horz" rtlCol="0" fromWordArt="0" anchor="t" forceAA="0" compatLnSpc="0"/>
        <a:lstStyle/>
        <a:p>
          <a:pPr marL="171450" indent="-171450" algn="just" defTabSz="711199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dirty="0" smtClean="0">
              <a:latin typeface="Times New Roman"/>
              <a:cs typeface="Times New Roman"/>
            </a:rPr>
            <a:t>разработка макета базы данных для сервиса аренды автомобилей, включая ER-диаграмму и SQL-скрипты для обеспечения стабильной работы системы на 1000 клиентов в год.</a:t>
          </a:r>
          <a:endParaRPr sz="1600" dirty="0">
            <a:latin typeface="Times New Roman"/>
            <a:cs typeface="Times New Roman"/>
          </a:endParaRPr>
        </a:p>
      </dgm:t>
    </dgm:pt>
    <dgm:pt modelId="{A6C86B1F-4C04-450B-B118-664D878FC4E4}" type="parTrans" cxnId="{1F37B6B7-A623-4072-BEEB-2395911732D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FD9CBF41-4944-4377-B527-46933E09F525}" type="sibTrans" cxnId="{1F37B6B7-A623-4072-BEEB-2395911732D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61174899-BF7C-4561-84D1-47B49B3E149A}">
      <dgm:prSet phldrT=""/>
      <dgm:spPr bwMode="auto"/>
      <dgm:t>
        <a:bodyPr/>
        <a:lstStyle/>
        <a:p>
          <a:pPr>
            <a:defRPr/>
          </a:pPr>
          <a:r>
            <a:rPr lang="ru-RU" dirty="0">
              <a:latin typeface="Times New Roman"/>
              <a:cs typeface="Times New Roman"/>
            </a:rPr>
            <a:t>Задачи курсовой работы:</a:t>
          </a:r>
          <a:endParaRPr dirty="0"/>
        </a:p>
      </dgm:t>
    </dgm:pt>
    <dgm:pt modelId="{39EA74D4-49BD-4B51-B9BA-4E1C509280A0}" type="parTrans" cxnId="{16279DD0-8A70-406C-BD11-F31347461BB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B67702A2-C4B3-47A8-BB86-4A6B778EC8CF}" type="sibTrans" cxnId="{16279DD0-8A70-406C-BD11-F31347461BB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665C082-D366-42B6-86CE-F81CAA15A1A1}">
      <dgm:prSet phldrT="" custT="1"/>
      <dgm:spPr bwMode="auto"/>
      <dgm:t>
        <a:bodyPr/>
        <a:lstStyle/>
        <a:p>
          <a:pPr marL="171450" indent="-171450" algn="just" defTabSz="711199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dirty="0" smtClean="0">
              <a:latin typeface="Times New Roman"/>
              <a:cs typeface="Times New Roman"/>
            </a:rPr>
            <a:t>анализ бизнес-процессов и выявление сущностей (клиенты, автомобили, аренды, платежи); </a:t>
          </a:r>
          <a:endParaRPr sz="1600" dirty="0">
            <a:latin typeface="Times New Roman"/>
            <a:cs typeface="Times New Roman"/>
          </a:endParaRPr>
        </a:p>
      </dgm:t>
    </dgm:pt>
    <dgm:pt modelId="{F79DC177-1E93-4B36-8F70-152E7152160A}" type="parTrans" cxnId="{A25CDCAE-D9FA-45EA-AB4C-334493897D5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993D528C-EAE7-4A72-AFD7-ABCC2631F544}" type="sibTrans" cxnId="{A25CDCAE-D9FA-45EA-AB4C-334493897D5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B30F52D1-2E6F-4144-BB77-51A5F02AE8C4}">
      <dgm:prSet phldrT="" custT="1"/>
      <dgm:spPr bwMode="auto"/>
      <dgm:t>
        <a:bodyPr/>
        <a:lstStyle/>
        <a:p>
          <a:pPr marL="171450" indent="-171450" algn="just" defTabSz="711199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dirty="0" smtClean="0">
              <a:latin typeface="Times New Roman"/>
              <a:cs typeface="Times New Roman"/>
            </a:rPr>
            <a:t>разработка ER-модели с нормализацией до 3NF; </a:t>
          </a:r>
          <a:endParaRPr sz="1600" dirty="0">
            <a:latin typeface="Times New Roman"/>
            <a:cs typeface="Times New Roman"/>
          </a:endParaRPr>
        </a:p>
      </dgm:t>
    </dgm:pt>
    <dgm:pt modelId="{67C60099-0AC7-4678-BEE8-C78590D0F78D}" type="parTrans" cxnId="{7B4C1E14-1D80-464A-A317-77C5BA709CDE}">
      <dgm:prSet/>
      <dgm:spPr/>
      <dgm:t>
        <a:bodyPr/>
        <a:lstStyle/>
        <a:p>
          <a:endParaRPr lang="ru-RU"/>
        </a:p>
      </dgm:t>
    </dgm:pt>
    <dgm:pt modelId="{9D4A4051-C220-42AF-8725-1C4741C28CE5}" type="sibTrans" cxnId="{7B4C1E14-1D80-464A-A317-77C5BA709CDE}">
      <dgm:prSet/>
      <dgm:spPr/>
      <dgm:t>
        <a:bodyPr/>
        <a:lstStyle/>
        <a:p>
          <a:endParaRPr lang="ru-RU"/>
        </a:p>
      </dgm:t>
    </dgm:pt>
    <dgm:pt modelId="{5CB90C4F-B093-4FF9-B020-638C7F9AED06}">
      <dgm:prSet phldrT="" custT="1"/>
      <dgm:spPr bwMode="auto"/>
      <dgm:t>
        <a:bodyPr/>
        <a:lstStyle/>
        <a:p>
          <a:pPr marL="171450" indent="-171450" algn="just" defTabSz="711199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dirty="0" smtClean="0">
              <a:latin typeface="Times New Roman"/>
              <a:cs typeface="Times New Roman"/>
            </a:rPr>
            <a:t>создание SQL-скриптов для таблиц, индексов и ограничений; </a:t>
          </a:r>
          <a:endParaRPr sz="1600" dirty="0">
            <a:latin typeface="Times New Roman"/>
            <a:cs typeface="Times New Roman"/>
          </a:endParaRPr>
        </a:p>
      </dgm:t>
    </dgm:pt>
    <dgm:pt modelId="{9EBFCEB2-30B5-451A-A602-17795B9C86CB}" type="parTrans" cxnId="{61ED2499-51D3-46DA-9FC1-6451DBB43C2D}">
      <dgm:prSet/>
      <dgm:spPr/>
      <dgm:t>
        <a:bodyPr/>
        <a:lstStyle/>
        <a:p>
          <a:endParaRPr lang="ru-RU"/>
        </a:p>
      </dgm:t>
    </dgm:pt>
    <dgm:pt modelId="{198660C8-4EB3-45D2-9B94-AD4512855A7C}" type="sibTrans" cxnId="{61ED2499-51D3-46DA-9FC1-6451DBB43C2D}">
      <dgm:prSet/>
      <dgm:spPr/>
      <dgm:t>
        <a:bodyPr/>
        <a:lstStyle/>
        <a:p>
          <a:endParaRPr lang="ru-RU"/>
        </a:p>
      </dgm:t>
    </dgm:pt>
    <dgm:pt modelId="{7B698700-7487-40E6-8E6C-12846A277F39}">
      <dgm:prSet phldrT="" custT="1"/>
      <dgm:spPr bwMode="auto"/>
      <dgm:t>
        <a:bodyPr/>
        <a:lstStyle/>
        <a:p>
          <a:pPr marL="171450" indent="-171450" algn="just" defTabSz="711199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dirty="0" smtClean="0">
              <a:latin typeface="Times New Roman"/>
              <a:cs typeface="Times New Roman"/>
            </a:rPr>
            <a:t>описание типовых запросов (поиск доступных авто, отчёты по арендам); </a:t>
          </a:r>
          <a:endParaRPr sz="1600" dirty="0">
            <a:latin typeface="Times New Roman"/>
            <a:cs typeface="Times New Roman"/>
          </a:endParaRPr>
        </a:p>
      </dgm:t>
    </dgm:pt>
    <dgm:pt modelId="{AE8279AE-E0B8-436C-9324-ECFCA2358CC9}" type="parTrans" cxnId="{71F3D7C0-F1ED-4E3D-8387-4D8A00DA39A4}">
      <dgm:prSet/>
      <dgm:spPr/>
      <dgm:t>
        <a:bodyPr/>
        <a:lstStyle/>
        <a:p>
          <a:endParaRPr lang="ru-RU"/>
        </a:p>
      </dgm:t>
    </dgm:pt>
    <dgm:pt modelId="{EF0C7C56-7425-41AA-8EB0-C0C4736BE1A9}" type="sibTrans" cxnId="{71F3D7C0-F1ED-4E3D-8387-4D8A00DA39A4}">
      <dgm:prSet/>
      <dgm:spPr/>
      <dgm:t>
        <a:bodyPr/>
        <a:lstStyle/>
        <a:p>
          <a:endParaRPr lang="ru-RU"/>
        </a:p>
      </dgm:t>
    </dgm:pt>
    <dgm:pt modelId="{3905B92C-2551-4DF9-9285-AA1F4A38ED05}">
      <dgm:prSet phldrT="" custT="1"/>
      <dgm:spPr bwMode="auto"/>
      <dgm:t>
        <a:bodyPr/>
        <a:lstStyle/>
        <a:p>
          <a:pPr marL="171450" indent="-171450" algn="just" defTabSz="711199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600" dirty="0" smtClean="0">
              <a:latin typeface="Times New Roman"/>
              <a:cs typeface="Times New Roman"/>
            </a:rPr>
            <a:t>оценка эффективности макета (производительность, масштабируемость).</a:t>
          </a:r>
          <a:endParaRPr sz="1600" dirty="0">
            <a:latin typeface="Times New Roman"/>
            <a:cs typeface="Times New Roman"/>
          </a:endParaRPr>
        </a:p>
      </dgm:t>
    </dgm:pt>
    <dgm:pt modelId="{0A71AA77-8B70-4EDE-B250-5D3D432CEE49}" type="parTrans" cxnId="{BC0CADFE-EFE0-4125-A490-5EC9EDD98794}">
      <dgm:prSet/>
      <dgm:spPr/>
      <dgm:t>
        <a:bodyPr/>
        <a:lstStyle/>
        <a:p>
          <a:endParaRPr lang="ru-RU"/>
        </a:p>
      </dgm:t>
    </dgm:pt>
    <dgm:pt modelId="{D0C60D0C-2BAF-4CD5-B4BA-DB56A4B1E048}" type="sibTrans" cxnId="{BC0CADFE-EFE0-4125-A490-5EC9EDD98794}">
      <dgm:prSet/>
      <dgm:spPr/>
      <dgm:t>
        <a:bodyPr/>
        <a:lstStyle/>
        <a:p>
          <a:endParaRPr lang="ru-RU"/>
        </a:p>
      </dgm:t>
    </dgm:pt>
    <dgm:pt modelId="{CDC4B967-2E5C-4128-BEF4-0D134C2F35A7}" type="pres">
      <dgm:prSet presAssocID="{F97BFF0A-E867-4E91-B589-EFE067746E3F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02289F46-5ABD-469E-8F4C-54C6A024EDED}" type="pres">
      <dgm:prSet presAssocID="{121FE210-1A5F-436B-B4CD-FBA38054CEA2}" presName="parentText" presStyleLbl="node1" presStyleIdx="0" presStyleCnt="2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30EFDD6D-FDA6-4A1C-80CE-3925E4D27CAC}" type="pres">
      <dgm:prSet presAssocID="{121FE210-1A5F-436B-B4CD-FBA38054CEA2}" presName="childText" presStyleLbl="revTx" presStyleIdx="0" presStyleCnt="2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5BE200F-E044-41C2-B262-B80801DAB351}" type="pres">
      <dgm:prSet presAssocID="{61174899-BF7C-4561-84D1-47B49B3E149A}" presName="parentText" presStyleLbl="node1" presStyleIdx="1" presStyleCnt="2" custLinFactY="808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CC111D21-ED34-4D96-9771-BCE9D52D30D3}" type="pres">
      <dgm:prSet presAssocID="{61174899-BF7C-4561-84D1-47B49B3E149A}" presName="childText" presStyleLbl="revTx" presStyleIdx="1" presStyleCnt="2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A25CDCAE-D9FA-45EA-AB4C-334493897D57}" srcId="{61174899-BF7C-4561-84D1-47B49B3E149A}" destId="{C665C082-D366-42B6-86CE-F81CAA15A1A1}" srcOrd="0" destOrd="0" parTransId="{F79DC177-1E93-4B36-8F70-152E7152160A}" sibTransId="{993D528C-EAE7-4A72-AFD7-ABCC2631F544}"/>
    <dgm:cxn modelId="{61ED2499-51D3-46DA-9FC1-6451DBB43C2D}" srcId="{61174899-BF7C-4561-84D1-47B49B3E149A}" destId="{5CB90C4F-B093-4FF9-B020-638C7F9AED06}" srcOrd="2" destOrd="0" parTransId="{9EBFCEB2-30B5-451A-A602-17795B9C86CB}" sibTransId="{198660C8-4EB3-45D2-9B94-AD4512855A7C}"/>
    <dgm:cxn modelId="{246A85C7-6CA2-4B54-AF18-D09FFEB67EFD}" type="presOf" srcId="{F97BFF0A-E867-4E91-B589-EFE067746E3F}" destId="{CDC4B967-2E5C-4128-BEF4-0D134C2F35A7}" srcOrd="0" destOrd="0" presId="urn:microsoft.com/office/officeart/2005/8/layout/vList2"/>
    <dgm:cxn modelId="{E795540D-08ED-4A01-8425-4F40B7BE4F02}" srcId="{F97BFF0A-E867-4E91-B589-EFE067746E3F}" destId="{121FE210-1A5F-436B-B4CD-FBA38054CEA2}" srcOrd="0" destOrd="0" parTransId="{9AA93DCD-B412-46CD-A604-FDC708E3DA11}" sibTransId="{7A6909FB-160F-47F4-BBFA-014B1503251C}"/>
    <dgm:cxn modelId="{EB0D607F-13B2-40DD-90DC-F1D090403A33}" type="presOf" srcId="{5CB90C4F-B093-4FF9-B020-638C7F9AED06}" destId="{CC111D21-ED34-4D96-9771-BCE9D52D30D3}" srcOrd="0" destOrd="2" presId="urn:microsoft.com/office/officeart/2005/8/layout/vList2"/>
    <dgm:cxn modelId="{16279DD0-8A70-406C-BD11-F31347461BB2}" srcId="{F97BFF0A-E867-4E91-B589-EFE067746E3F}" destId="{61174899-BF7C-4561-84D1-47B49B3E149A}" srcOrd="1" destOrd="0" parTransId="{39EA74D4-49BD-4B51-B9BA-4E1C509280A0}" sibTransId="{B67702A2-C4B3-47A8-BB86-4A6B778EC8CF}"/>
    <dgm:cxn modelId="{71F3D7C0-F1ED-4E3D-8387-4D8A00DA39A4}" srcId="{61174899-BF7C-4561-84D1-47B49B3E149A}" destId="{7B698700-7487-40E6-8E6C-12846A277F39}" srcOrd="3" destOrd="0" parTransId="{AE8279AE-E0B8-436C-9324-ECFCA2358CC9}" sibTransId="{EF0C7C56-7425-41AA-8EB0-C0C4736BE1A9}"/>
    <dgm:cxn modelId="{87568FAF-7E5E-49E9-BACF-B34A3A9F85A9}" type="presOf" srcId="{7B698700-7487-40E6-8E6C-12846A277F39}" destId="{CC111D21-ED34-4D96-9771-BCE9D52D30D3}" srcOrd="0" destOrd="3" presId="urn:microsoft.com/office/officeart/2005/8/layout/vList2"/>
    <dgm:cxn modelId="{BC0CADFE-EFE0-4125-A490-5EC9EDD98794}" srcId="{61174899-BF7C-4561-84D1-47B49B3E149A}" destId="{3905B92C-2551-4DF9-9285-AA1F4A38ED05}" srcOrd="4" destOrd="0" parTransId="{0A71AA77-8B70-4EDE-B250-5D3D432CEE49}" sibTransId="{D0C60D0C-2BAF-4CD5-B4BA-DB56A4B1E048}"/>
    <dgm:cxn modelId="{F76DDEA3-C3F7-4E28-9FE7-46605DD1CC7E}" type="presOf" srcId="{B30F52D1-2E6F-4144-BB77-51A5F02AE8C4}" destId="{CC111D21-ED34-4D96-9771-BCE9D52D30D3}" srcOrd="0" destOrd="1" presId="urn:microsoft.com/office/officeart/2005/8/layout/vList2"/>
    <dgm:cxn modelId="{14A6B3CA-C78A-4FAC-9877-EE783BF57950}" type="presOf" srcId="{24AB4BC9-AC54-4948-A870-EADE149C2B32}" destId="{30EFDD6D-FDA6-4A1C-80CE-3925E4D27CAC}" srcOrd="0" destOrd="0" presId="urn:microsoft.com/office/officeart/2005/8/layout/vList2"/>
    <dgm:cxn modelId="{452B7E6B-68AF-404B-9CEF-9482890AB782}" type="presOf" srcId="{61174899-BF7C-4561-84D1-47B49B3E149A}" destId="{75BE200F-E044-41C2-B262-B80801DAB351}" srcOrd="0" destOrd="0" presId="urn:microsoft.com/office/officeart/2005/8/layout/vList2"/>
    <dgm:cxn modelId="{FABC4B85-8624-4499-BC45-18D918F646B2}" type="presOf" srcId="{121FE210-1A5F-436B-B4CD-FBA38054CEA2}" destId="{02289F46-5ABD-469E-8F4C-54C6A024EDED}" srcOrd="0" destOrd="0" presId="urn:microsoft.com/office/officeart/2005/8/layout/vList2"/>
    <dgm:cxn modelId="{58E61E82-39C5-4DFF-A446-222491BE0E29}" type="presOf" srcId="{3905B92C-2551-4DF9-9285-AA1F4A38ED05}" destId="{CC111D21-ED34-4D96-9771-BCE9D52D30D3}" srcOrd="0" destOrd="4" presId="urn:microsoft.com/office/officeart/2005/8/layout/vList2"/>
    <dgm:cxn modelId="{7B4C1E14-1D80-464A-A317-77C5BA709CDE}" srcId="{61174899-BF7C-4561-84D1-47B49B3E149A}" destId="{B30F52D1-2E6F-4144-BB77-51A5F02AE8C4}" srcOrd="1" destOrd="0" parTransId="{67C60099-0AC7-4678-BEE8-C78590D0F78D}" sibTransId="{9D4A4051-C220-42AF-8725-1C4741C28CE5}"/>
    <dgm:cxn modelId="{9641A521-C01B-4DDB-AC91-6DD00E1AA425}" type="presOf" srcId="{C665C082-D366-42B6-86CE-F81CAA15A1A1}" destId="{CC111D21-ED34-4D96-9771-BCE9D52D30D3}" srcOrd="0" destOrd="0" presId="urn:microsoft.com/office/officeart/2005/8/layout/vList2"/>
    <dgm:cxn modelId="{1F37B6B7-A623-4072-BEEB-2395911732D7}" srcId="{121FE210-1A5F-436B-B4CD-FBA38054CEA2}" destId="{24AB4BC9-AC54-4948-A870-EADE149C2B32}" srcOrd="0" destOrd="0" parTransId="{A6C86B1F-4C04-450B-B118-664D878FC4E4}" sibTransId="{FD9CBF41-4944-4377-B527-46933E09F525}"/>
    <dgm:cxn modelId="{DBE0F0C5-7333-4140-968F-DC644CA750AA}" type="presParOf" srcId="{CDC4B967-2E5C-4128-BEF4-0D134C2F35A7}" destId="{02289F46-5ABD-469E-8F4C-54C6A024EDED}" srcOrd="0" destOrd="0" presId="urn:microsoft.com/office/officeart/2005/8/layout/vList2"/>
    <dgm:cxn modelId="{8F632B3F-EDA3-4AFC-8F46-C8A06E3BFC2F}" type="presParOf" srcId="{CDC4B967-2E5C-4128-BEF4-0D134C2F35A7}" destId="{30EFDD6D-FDA6-4A1C-80CE-3925E4D27CAC}" srcOrd="1" destOrd="0" presId="urn:microsoft.com/office/officeart/2005/8/layout/vList2"/>
    <dgm:cxn modelId="{86045D1D-91BD-4B26-A6F3-F9B77E8EFFB6}" type="presParOf" srcId="{CDC4B967-2E5C-4128-BEF4-0D134C2F35A7}" destId="{75BE200F-E044-41C2-B262-B80801DAB351}" srcOrd="2" destOrd="0" presId="urn:microsoft.com/office/officeart/2005/8/layout/vList2"/>
    <dgm:cxn modelId="{4B7340FD-54F0-4C51-A099-EA55D3727DF9}" type="presParOf" srcId="{CDC4B967-2E5C-4128-BEF4-0D134C2F35A7}" destId="{CC111D21-ED34-4D96-9771-BCE9D52D30D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5559D6-9511-4640-B326-0FBB9F29C5C4}" type="doc">
      <dgm:prSet loTypeId="urn:microsoft.com/office/officeart/2005/8/layout/lProcess3#1" loCatId="process" qsTypeId="urn:microsoft.com/office/officeart/2005/8/quickstyle/simple5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6554CFED-FAE0-4343-837E-126F30106799}">
      <dgm:prSet phldrT=""/>
      <dgm:spPr bwMode="auto"/>
      <dgm:t>
        <a:bodyPr/>
        <a:lstStyle/>
        <a:p>
          <a:pPr>
            <a:defRPr/>
          </a:pPr>
          <a:r>
            <a:rPr lang="ru-RU">
              <a:latin typeface="Times New Roman"/>
              <a:cs typeface="Times New Roman"/>
            </a:rPr>
            <a:t>Объект исследования: </a:t>
          </a:r>
          <a:endParaRPr/>
        </a:p>
      </dgm:t>
    </dgm:pt>
    <dgm:pt modelId="{67A2F91E-ECD8-421B-AD64-AC296214D100}" type="parTrans" cxnId="{6ED67956-AFD2-45AA-BCC2-59369DD865FD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1190CD00-F711-4C1D-9699-57D38FD42249}" type="sibTrans" cxnId="{6ED67956-AFD2-45AA-BCC2-59369DD865FD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45FEEADE-A4CB-4237-995F-6ACED22F9CD6}">
      <dgm:prSet phldrT=""/>
      <dgm:spPr bwMode="auto"/>
      <dgm:t>
        <a:bodyPr/>
        <a:lstStyle/>
        <a:p>
          <a:pPr>
            <a:defRPr/>
          </a:pPr>
          <a:r>
            <a:rPr lang="ru-RU" b="0" i="0" dirty="0" smtClean="0"/>
            <a:t>Объектом исследования является база данных </a:t>
          </a:r>
          <a:r>
            <a:rPr lang="ru-RU" b="0" i="0" dirty="0" err="1" smtClean="0"/>
            <a:t>автоарендного</a:t>
          </a:r>
          <a:r>
            <a:rPr lang="ru-RU" b="0" i="0" dirty="0" smtClean="0"/>
            <a:t> сервиса</a:t>
          </a:r>
          <a:endParaRPr lang="ru-RU" dirty="0">
            <a:latin typeface="Times New Roman"/>
            <a:cs typeface="Times New Roman"/>
          </a:endParaRPr>
        </a:p>
      </dgm:t>
    </dgm:pt>
    <dgm:pt modelId="{58ADCD9A-5B11-497F-9DFF-0B8942477AE5}" type="parTrans" cxnId="{A64245AE-5096-496E-8FE8-AC6011E84C30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64F7920A-635D-4DBB-A967-B0BFA6F60FAA}" type="sibTrans" cxnId="{A64245AE-5096-496E-8FE8-AC6011E84C30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9FB19EA-EC19-4C96-9DF8-022820819B1E}">
      <dgm:prSet phldrT=""/>
      <dgm:spPr bwMode="auto"/>
      <dgm:t>
        <a:bodyPr/>
        <a:lstStyle/>
        <a:p>
          <a:pPr>
            <a:defRPr/>
          </a:pPr>
          <a:r>
            <a:rPr lang="ru-RU">
              <a:latin typeface="Times New Roman"/>
              <a:cs typeface="Times New Roman"/>
            </a:rPr>
            <a:t>Предмет исследования: </a:t>
          </a:r>
          <a:endParaRPr/>
        </a:p>
      </dgm:t>
    </dgm:pt>
    <dgm:pt modelId="{CEEE9B64-6B7B-4CF3-B118-3FE36F967C5D}" type="parTrans" cxnId="{70AB3EB7-AF02-4D1E-AA7A-B448822A3724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79FF224A-7AC5-46F2-8E64-DD6C2502A328}" type="sibTrans" cxnId="{70AB3EB7-AF02-4D1E-AA7A-B448822A3724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EC2DAFDC-581C-4869-AF68-E2076DB7460E}">
      <dgm:prSet phldrT=""/>
      <dgm:spPr bwMode="auto"/>
      <dgm:t>
        <a:bodyPr/>
        <a:lstStyle/>
        <a:p>
          <a:pPr>
            <a:defRPr/>
          </a:pPr>
          <a:r>
            <a:rPr lang="ru-RU" b="0" i="0" dirty="0" smtClean="0"/>
            <a:t>Предметом исследования является процесс разработки и создания макета данной базы данных</a:t>
          </a:r>
          <a:endParaRPr lang="ru-RU" dirty="0">
            <a:latin typeface="Times New Roman"/>
            <a:cs typeface="Times New Roman"/>
          </a:endParaRPr>
        </a:p>
      </dgm:t>
    </dgm:pt>
    <dgm:pt modelId="{4C81AF6F-D420-46E9-BCAE-8119B4016078}" type="parTrans" cxnId="{31F22F53-9CED-4A69-8231-B30085FDD4C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F0C105F-539B-4B37-9F7F-45782F7A0A8C}" type="sibTrans" cxnId="{31F22F53-9CED-4A69-8231-B30085FDD4C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74384C61-299E-4D61-ADC3-905DA5F71F5D}" type="pres">
      <dgm:prSet presAssocID="{4E5559D6-9511-4640-B326-0FBB9F29C5C4}" presName="Name0" presStyleCnt="0">
        <dgm:presLayoutVars>
          <dgm:chPref val="3"/>
          <dgm:dir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0CA97D07-8858-4EC2-948F-0F3D1956DD33}" type="pres">
      <dgm:prSet presAssocID="{6554CFED-FAE0-4343-837E-126F30106799}" presName="horFlow" presStyleCnt="0"/>
      <dgm:spPr bwMode="auto"/>
    </dgm:pt>
    <dgm:pt modelId="{29C03D58-D6C6-497A-A440-3D0AC87FFB8F}" type="pres">
      <dgm:prSet presAssocID="{6554CFED-FAE0-4343-837E-126F30106799}" presName="bigChev" presStyleLbl="node1" presStyleIdx="0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FC455867-A91D-4DEB-A26B-1DE825543206}" type="pres">
      <dgm:prSet presAssocID="{58ADCD9A-5B11-497F-9DFF-0B8942477AE5}" presName="parTrans" presStyleCnt="0"/>
      <dgm:spPr bwMode="auto"/>
    </dgm:pt>
    <dgm:pt modelId="{9D64021F-A1CC-4C85-AFAA-68F2640DBC52}" type="pres">
      <dgm:prSet presAssocID="{45FEEADE-A4CB-4237-995F-6ACED22F9CD6}" presName="node" presStyleLbl="alignAccFollowNode1" presStyleIdx="0" presStyleCnt="2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CBC2C651-02C4-415F-B233-3487656EED1A}" type="pres">
      <dgm:prSet presAssocID="{6554CFED-FAE0-4343-837E-126F30106799}" presName="vSp" presStyleCnt="0"/>
      <dgm:spPr bwMode="auto"/>
    </dgm:pt>
    <dgm:pt modelId="{5CFB5690-F9F3-48E8-983E-B9CD74EB8C77}" type="pres">
      <dgm:prSet presAssocID="{09FB19EA-EC19-4C96-9DF8-022820819B1E}" presName="horFlow" presStyleCnt="0"/>
      <dgm:spPr bwMode="auto"/>
    </dgm:pt>
    <dgm:pt modelId="{8815CA34-2705-4E03-8DF0-8D20745B4324}" type="pres">
      <dgm:prSet presAssocID="{09FB19EA-EC19-4C96-9DF8-022820819B1E}" presName="bigChev" presStyleLbl="node1" presStyleIdx="1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E747AE11-9323-4041-82A8-6A2B80450E47}" type="pres">
      <dgm:prSet presAssocID="{4C81AF6F-D420-46E9-BCAE-8119B4016078}" presName="parTrans" presStyleCnt="0"/>
      <dgm:spPr bwMode="auto"/>
    </dgm:pt>
    <dgm:pt modelId="{2B919555-B964-4548-9149-F58D531513B5}" type="pres">
      <dgm:prSet presAssocID="{EC2DAFDC-581C-4869-AF68-E2076DB7460E}" presName="node" presStyleLbl="alignAccFollowNode1" presStyleIdx="1" presStyleCnt="2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3542CA0B-56F6-49F5-9EEA-54621CE1AE03}" type="presOf" srcId="{6554CFED-FAE0-4343-837E-126F30106799}" destId="{29C03D58-D6C6-497A-A440-3D0AC87FFB8F}" srcOrd="0" destOrd="0" presId="urn:microsoft.com/office/officeart/2005/8/layout/lProcess3#1"/>
    <dgm:cxn modelId="{486AD0AB-AE35-4D97-A23D-DB267F2C7C79}" type="presOf" srcId="{09FB19EA-EC19-4C96-9DF8-022820819B1E}" destId="{8815CA34-2705-4E03-8DF0-8D20745B4324}" srcOrd="0" destOrd="0" presId="urn:microsoft.com/office/officeart/2005/8/layout/lProcess3#1"/>
    <dgm:cxn modelId="{31F22F53-9CED-4A69-8231-B30085FDD4C6}" srcId="{09FB19EA-EC19-4C96-9DF8-022820819B1E}" destId="{EC2DAFDC-581C-4869-AF68-E2076DB7460E}" srcOrd="0" destOrd="0" parTransId="{4C81AF6F-D420-46E9-BCAE-8119B4016078}" sibTransId="{0F0C105F-539B-4B37-9F7F-45782F7A0A8C}"/>
    <dgm:cxn modelId="{70AB3EB7-AF02-4D1E-AA7A-B448822A3724}" srcId="{4E5559D6-9511-4640-B326-0FBB9F29C5C4}" destId="{09FB19EA-EC19-4C96-9DF8-022820819B1E}" srcOrd="1" destOrd="0" parTransId="{CEEE9B64-6B7B-4CF3-B118-3FE36F967C5D}" sibTransId="{79FF224A-7AC5-46F2-8E64-DD6C2502A328}"/>
    <dgm:cxn modelId="{2923461C-7AFA-491C-8411-FE67CED6A2CA}" type="presOf" srcId="{EC2DAFDC-581C-4869-AF68-E2076DB7460E}" destId="{2B919555-B964-4548-9149-F58D531513B5}" srcOrd="0" destOrd="0" presId="urn:microsoft.com/office/officeart/2005/8/layout/lProcess3#1"/>
    <dgm:cxn modelId="{6ED67956-AFD2-45AA-BCC2-59369DD865FD}" srcId="{4E5559D6-9511-4640-B326-0FBB9F29C5C4}" destId="{6554CFED-FAE0-4343-837E-126F30106799}" srcOrd="0" destOrd="0" parTransId="{67A2F91E-ECD8-421B-AD64-AC296214D100}" sibTransId="{1190CD00-F711-4C1D-9699-57D38FD42249}"/>
    <dgm:cxn modelId="{A64245AE-5096-496E-8FE8-AC6011E84C30}" srcId="{6554CFED-FAE0-4343-837E-126F30106799}" destId="{45FEEADE-A4CB-4237-995F-6ACED22F9CD6}" srcOrd="0" destOrd="0" parTransId="{58ADCD9A-5B11-497F-9DFF-0B8942477AE5}" sibTransId="{64F7920A-635D-4DBB-A967-B0BFA6F60FAA}"/>
    <dgm:cxn modelId="{DB867B64-2B93-48D1-9035-1C52FD575B7F}" type="presOf" srcId="{4E5559D6-9511-4640-B326-0FBB9F29C5C4}" destId="{74384C61-299E-4D61-ADC3-905DA5F71F5D}" srcOrd="0" destOrd="0" presId="urn:microsoft.com/office/officeart/2005/8/layout/lProcess3#1"/>
    <dgm:cxn modelId="{3BFBC11F-4331-45E3-8A67-205726A64F9A}" type="presOf" srcId="{45FEEADE-A4CB-4237-995F-6ACED22F9CD6}" destId="{9D64021F-A1CC-4C85-AFAA-68F2640DBC52}" srcOrd="0" destOrd="0" presId="urn:microsoft.com/office/officeart/2005/8/layout/lProcess3#1"/>
    <dgm:cxn modelId="{4885C8A5-F734-468B-A6C0-3C0B4F9F94AA}" type="presParOf" srcId="{74384C61-299E-4D61-ADC3-905DA5F71F5D}" destId="{0CA97D07-8858-4EC2-948F-0F3D1956DD33}" srcOrd="0" destOrd="0" presId="urn:microsoft.com/office/officeart/2005/8/layout/lProcess3#1"/>
    <dgm:cxn modelId="{4CFD28A6-C6CB-4802-AEFF-9E43851A72CC}" type="presParOf" srcId="{0CA97D07-8858-4EC2-948F-0F3D1956DD33}" destId="{29C03D58-D6C6-497A-A440-3D0AC87FFB8F}" srcOrd="0" destOrd="0" presId="urn:microsoft.com/office/officeart/2005/8/layout/lProcess3#1"/>
    <dgm:cxn modelId="{66AD75C5-D539-409D-8872-46D4FE302B1D}" type="presParOf" srcId="{0CA97D07-8858-4EC2-948F-0F3D1956DD33}" destId="{FC455867-A91D-4DEB-A26B-1DE825543206}" srcOrd="1" destOrd="0" presId="urn:microsoft.com/office/officeart/2005/8/layout/lProcess3#1"/>
    <dgm:cxn modelId="{7D491B67-78E9-4B1F-95D7-DDD395EB5209}" type="presParOf" srcId="{0CA97D07-8858-4EC2-948F-0F3D1956DD33}" destId="{9D64021F-A1CC-4C85-AFAA-68F2640DBC52}" srcOrd="2" destOrd="0" presId="urn:microsoft.com/office/officeart/2005/8/layout/lProcess3#1"/>
    <dgm:cxn modelId="{6CC32799-9F3B-4704-BE2F-8E524EB5A018}" type="presParOf" srcId="{74384C61-299E-4D61-ADC3-905DA5F71F5D}" destId="{CBC2C651-02C4-415F-B233-3487656EED1A}" srcOrd="1" destOrd="0" presId="urn:microsoft.com/office/officeart/2005/8/layout/lProcess3#1"/>
    <dgm:cxn modelId="{9EE81EC6-1E86-4118-BF12-BEA1A49FDA25}" type="presParOf" srcId="{74384C61-299E-4D61-ADC3-905DA5F71F5D}" destId="{5CFB5690-F9F3-48E8-983E-B9CD74EB8C77}" srcOrd="2" destOrd="0" presId="urn:microsoft.com/office/officeart/2005/8/layout/lProcess3#1"/>
    <dgm:cxn modelId="{F58AADEA-E804-49D6-A8FD-5A097912D7CB}" type="presParOf" srcId="{5CFB5690-F9F3-48E8-983E-B9CD74EB8C77}" destId="{8815CA34-2705-4E03-8DF0-8D20745B4324}" srcOrd="0" destOrd="0" presId="urn:microsoft.com/office/officeart/2005/8/layout/lProcess3#1"/>
    <dgm:cxn modelId="{6298B094-F650-455E-A8E2-983274005167}" type="presParOf" srcId="{5CFB5690-F9F3-48E8-983E-B9CD74EB8C77}" destId="{E747AE11-9323-4041-82A8-6A2B80450E47}" srcOrd="1" destOrd="0" presId="urn:microsoft.com/office/officeart/2005/8/layout/lProcess3#1"/>
    <dgm:cxn modelId="{03615942-908C-45D7-AAAB-F2733750EC02}" type="presParOf" srcId="{5CFB5690-F9F3-48E8-983E-B9CD74EB8C77}" destId="{2B919555-B964-4548-9149-F58D531513B5}" srcOrd="2" destOrd="0" presId="urn:microsoft.com/office/officeart/2005/8/layout/lProcess3#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Описание предметной области</a:t>
          </a:r>
          <a:endParaRPr/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105223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Логическая модель </a:t>
          </a:r>
          <a:r>
            <a:rPr lang="ru-RU" sz="2600" b="0" dirty="0">
              <a:solidFill>
                <a:schemeClr val="tx1"/>
              </a:solidFill>
              <a:latin typeface="Times New Roman"/>
              <a:cs typeface="Times New Roman"/>
            </a:rPr>
            <a:t>базы </a:t>
          </a: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данных</a:t>
          </a:r>
          <a:endParaRPr dirty="0"/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87840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Физическая модель </a:t>
          </a:r>
          <a:r>
            <a:rPr lang="ru-RU" sz="2600" b="0" dirty="0">
              <a:solidFill>
                <a:schemeClr val="tx1"/>
              </a:solidFill>
              <a:latin typeface="Times New Roman"/>
              <a:cs typeface="Times New Roman"/>
            </a:rPr>
            <a:t>базы </a:t>
          </a: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данных</a:t>
          </a:r>
          <a:endParaRPr sz="2600" b="0" dirty="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87840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0E0ECE36-0D66-4D91-B2F6-7A91BC45E2A6}" type="presOf" srcId="{BAA66441-3B27-413B-B419-DBC69BEB94E4}" destId="{7B2BF750-7F46-47F9-85D6-289A931F7836}" srcOrd="0" destOrd="0" presId="urn:microsoft.com/office/officeart/2005/8/layout/vList2"/>
    <dgm:cxn modelId="{70D39F48-9007-46F6-9B90-104713E72DAD}" type="presOf" srcId="{60E81A29-BC6E-4D27-BDFF-E8EA7E9002D8}" destId="{AA3016F2-7929-459B-B9BE-3C8D6A7DB70C}" srcOrd="0" destOrd="0" presId="urn:microsoft.com/office/officeart/2005/8/layout/vList2"/>
    <dgm:cxn modelId="{E112F314-290D-48A4-AA21-896C13DCDFB8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Создание базы данных</a:t>
          </a:r>
          <a:endParaRPr lang="ru-RU" sz="2600" b="0" dirty="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423998" custLinFactNeighborX="64012" custLinFactNeighborY="13284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Создание таблиц «Клиенты» и «Автомобили»</a:t>
          </a:r>
          <a:endParaRPr lang="ru-RU" sz="2600" b="0" dirty="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423998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Создание таблиц «Аренды» и «Платежи»</a:t>
          </a:r>
          <a:endParaRPr lang="ru-RU" sz="2600" b="0" dirty="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423998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AF67F71F-84D1-49D6-9978-407236385D78}" type="presOf" srcId="{60E81A29-BC6E-4D27-BDFF-E8EA7E9002D8}" destId="{AA3016F2-7929-459B-B9BE-3C8D6A7DB70C}" srcOrd="0" destOrd="0" presId="urn:microsoft.com/office/officeart/2005/8/layout/vList2"/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430EA7ED-7CBB-4218-B5B4-5D420AC41DC7}" type="presOf" srcId="{BAA66441-3B27-413B-B419-DBC69BEB94E4}" destId="{7B2BF750-7F46-47F9-85D6-289A931F7836}" srcOrd="0" destOrd="0" presId="urn:microsoft.com/office/officeart/2005/8/layout/vList2"/>
    <dgm:cxn modelId="{89F87BD5-6E7C-4EDA-854B-1FDEF9AEBEA4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Создание индексов в таблицах</a:t>
          </a:r>
          <a:endParaRPr lang="ru-RU" sz="2600" b="0" dirty="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423998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1EAE9944-427F-4E53-83FE-E4426DAAEEAA}" type="presOf" srcId="{BAA66441-3B27-413B-B419-DBC69BEB94E4}" destId="{7B2BF750-7F46-47F9-85D6-289A931F7836}" srcOrd="0" destOrd="0" presId="urn:microsoft.com/office/officeart/2005/8/layout/vList2"/>
    <dgm:cxn modelId="{6CB8CAFF-CB1B-485C-A00F-B7BA87D0CCEF}" type="presOf" srcId="{60E81A29-BC6E-4D27-BDFF-E8EA7E9002D8}" destId="{AA3016F2-7929-459B-B9BE-3C8D6A7DB70C}" srcOrd="0" destOrd="0" presId="urn:microsoft.com/office/officeart/2005/8/layout/vList2"/>
    <dgm:cxn modelId="{196CB41D-9382-4DCC-ABD0-15CA2AB1DB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 dirty="0">
              <a:solidFill>
                <a:schemeClr val="tx1"/>
              </a:solidFill>
              <a:latin typeface="Times New Roman"/>
              <a:cs typeface="Times New Roman"/>
            </a:rPr>
            <a:t>Создание запросов к </a:t>
          </a: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БД</a:t>
          </a:r>
          <a:endParaRPr lang="ru-RU" sz="2600" b="0" dirty="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423998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>
              <a:solidFill>
                <a:schemeClr val="tx1"/>
              </a:solidFill>
              <a:latin typeface="Times New Roman"/>
              <a:cs typeface="Times New Roman"/>
            </a:rPr>
            <a:t>Создание запросов к БД</a:t>
          </a:r>
          <a:endParaRPr lang="ru-RU" sz="260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423998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>
              <a:solidFill>
                <a:schemeClr val="tx1"/>
              </a:solidFill>
              <a:latin typeface="Times New Roman"/>
              <a:cs typeface="Times New Roman"/>
            </a:rPr>
            <a:t>Создание запросов к БД</a:t>
          </a:r>
          <a:endParaRPr lang="ru-RU" sz="260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423998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C70F3E2A-810A-4CFF-B709-B866975CC149}" type="presOf" srcId="{60E81A29-BC6E-4D27-BDFF-E8EA7E9002D8}" destId="{AA3016F2-7929-459B-B9BE-3C8D6A7DB70C}" srcOrd="0" destOrd="0" presId="urn:microsoft.com/office/officeart/2005/8/layout/vList2"/>
    <dgm:cxn modelId="{56B2990D-D8FC-4DFA-A71C-739C93F83B96}" type="presOf" srcId="{BAA66441-3B27-413B-B419-DBC69BEB94E4}" destId="{7B2BF750-7F46-47F9-85D6-289A931F7836}" srcOrd="0" destOrd="0" presId="urn:microsoft.com/office/officeart/2005/8/layout/vList2"/>
    <dgm:cxn modelId="{CCD02B88-0938-41F4-A2A4-D4681DF0C5D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 custT="1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 sz="2600" b="0" dirty="0">
              <a:solidFill>
                <a:schemeClr val="tx1"/>
              </a:solidFill>
              <a:latin typeface="Times New Roman"/>
              <a:cs typeface="Times New Roman"/>
            </a:rPr>
            <a:t>Создание запросов к </a:t>
          </a:r>
          <a:r>
            <a:rPr lang="ru-RU" sz="2600" b="0" dirty="0" smtClean="0">
              <a:solidFill>
                <a:schemeClr val="tx1"/>
              </a:solidFill>
              <a:latin typeface="Times New Roman"/>
              <a:cs typeface="Times New Roman"/>
            </a:rPr>
            <a:t>БД</a:t>
          </a:r>
          <a:endParaRPr lang="ru-RU" sz="2600" dirty="0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423998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5662027B-2A29-43C8-8A8E-6B5305D5B6EB}" type="presOf" srcId="{60E81A29-BC6E-4D27-BDFF-E8EA7E9002D8}" destId="{AA3016F2-7929-459B-B9BE-3C8D6A7DB70C}" srcOrd="0" destOrd="0" presId="urn:microsoft.com/office/officeart/2005/8/layout/vList2"/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6B97AB49-4F72-494F-AAD6-8561634AFDAA}" type="presOf" srcId="{BAA66441-3B27-413B-B419-DBC69BEB94E4}" destId="{7B2BF750-7F46-47F9-85D6-289A931F7836}" srcOrd="0" destOrd="0" presId="urn:microsoft.com/office/officeart/2005/8/layout/vList2"/>
    <dgm:cxn modelId="{23A0A060-A290-484E-A17F-B2C518695414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Оценка эффективности</a:t>
          </a:r>
          <a:endParaRPr/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105223" custLinFactNeighborX="-49808" custLinFactNeighborY="-24807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0E81A29-BC6E-4D27-BDFF-E8EA7E9002D8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AA66441-3B27-413B-B419-DBC69BEB94E4}">
      <dgm:prSet phldrT=""/>
      <dgm:spPr bwMode="auto">
        <a:solidFill>
          <a:schemeClr val="bg2"/>
        </a:solidFill>
      </dgm:spPr>
      <dgm:t>
        <a:bodyPr/>
        <a:lstStyle/>
        <a:p>
          <a:pPr algn="ctr"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Выводы</a:t>
          </a:r>
          <a:endParaRPr/>
        </a:p>
      </dgm:t>
    </dgm:pt>
    <dgm:pt modelId="{E8F126D0-1BBC-451E-9C44-95E1117FAF3A}" type="par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F17C08-C544-47B0-89CC-532AD0BFDBF0}" type="sibTrans" cxnId="{D2EE5C12-3CFD-487C-957B-E395702D2D1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A3016F2-7929-459B-B9BE-3C8D6A7DB70C}" type="pres">
      <dgm:prSet presAssocID="{60E81A29-BC6E-4D27-BDFF-E8EA7E9002D8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7B2BF750-7F46-47F9-85D6-289A931F7836}" type="pres">
      <dgm:prSet presAssocID="{BAA66441-3B27-413B-B419-DBC69BEB94E4}" presName="parentText" presStyleLbl="node1" presStyleIdx="0" presStyleCnt="1" custScaleY="105223" custLinFactNeighborX="-345" custLinFactNeighborY="-2984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D2EE5C12-3CFD-487C-957B-E395702D2D16}" srcId="{60E81A29-BC6E-4D27-BDFF-E8EA7E9002D8}" destId="{BAA66441-3B27-413B-B419-DBC69BEB94E4}" srcOrd="0" destOrd="0" parTransId="{E8F126D0-1BBC-451E-9C44-95E1117FAF3A}" sibTransId="{CFF17C08-C544-47B0-89CC-532AD0BFDBF0}"/>
    <dgm:cxn modelId="{A5B5CAAC-B807-4CE6-B890-89A5A0EC9C77}" type="presOf" srcId="{60E81A29-BC6E-4D27-BDFF-E8EA7E9002D8}" destId="{AA3016F2-7929-459B-B9BE-3C8D6A7DB70C}" srcOrd="0" destOrd="0" presId="urn:microsoft.com/office/officeart/2005/8/layout/vList2"/>
    <dgm:cxn modelId="{7EEF5801-724B-4874-9511-8593C59C6DC7}" type="presOf" srcId="{BAA66441-3B27-413B-B419-DBC69BEB94E4}" destId="{7B2BF750-7F46-47F9-85D6-289A931F7836}" srcOrd="0" destOrd="0" presId="urn:microsoft.com/office/officeart/2005/8/layout/vList2"/>
    <dgm:cxn modelId="{999B490B-177A-494A-981E-A29880A09772}" type="presParOf" srcId="{AA3016F2-7929-459B-B9BE-3C8D6A7DB70C}" destId="{7B2BF750-7F46-47F9-85D6-289A931F78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200286"/>
          <a:ext cx="7287710" cy="640176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kern="1200">
              <a:solidFill>
                <a:schemeClr val="tx1"/>
              </a:solidFill>
              <a:latin typeface="Times New Roman"/>
              <a:cs typeface="Times New Roman"/>
            </a:rPr>
            <a:t>Цели, задачи, объект и предмет курсовой работы</a:t>
          </a:r>
          <a:endParaRPr sz="2600" kern="1200"/>
        </a:p>
      </dsp:txBody>
      <dsp:txXfrm>
        <a:off x="31251" y="231537"/>
        <a:ext cx="7225208" cy="577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289F46-5ABD-469E-8F4C-54C6A024EDED}">
      <dsp:nvSpPr>
        <dsp:cNvPr id="0" name=""/>
        <dsp:cNvSpPr/>
      </dsp:nvSpPr>
      <dsp:spPr bwMode="auto">
        <a:xfrm>
          <a:off x="0" y="157205"/>
          <a:ext cx="5443885" cy="865800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  <a:miter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3700" kern="1200">
              <a:latin typeface="Times New Roman"/>
              <a:cs typeface="Times New Roman"/>
            </a:rPr>
            <a:t>Цель курсовой работы:</a:t>
          </a:r>
          <a:endParaRPr sz="3700" kern="1200"/>
        </a:p>
      </dsp:txBody>
      <dsp:txXfrm>
        <a:off x="42265" y="199470"/>
        <a:ext cx="5359355" cy="781270"/>
      </dsp:txXfrm>
    </dsp:sp>
    <dsp:sp modelId="{30EFDD6D-FDA6-4A1C-80CE-3925E4D27CAC}">
      <dsp:nvSpPr>
        <dsp:cNvPr id="0" name=""/>
        <dsp:cNvSpPr/>
      </dsp:nvSpPr>
      <dsp:spPr bwMode="auto">
        <a:xfrm>
          <a:off x="0" y="1023005"/>
          <a:ext cx="5443885" cy="899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Overflow="overflow" horzOverflow="overflow" vert="horz" wrap="square" lIns="172843" tIns="20320" rIns="113792" bIns="20320" numCol="1" spcCol="1270" rtlCol="0" fromWordArt="0" anchor="t" anchorCtr="0" forceAA="0" compatLnSpc="0">
          <a:noAutofit/>
        </a:bodyPr>
        <a:lstStyle/>
        <a:p>
          <a:pPr marL="171450" lvl="1" indent="-171450" algn="just" defTabSz="711199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  <a:defRPr/>
          </a:pPr>
          <a:r>
            <a:rPr lang="ru-RU" sz="1600" kern="1200" dirty="0" smtClean="0">
              <a:latin typeface="Times New Roman"/>
              <a:cs typeface="Times New Roman"/>
            </a:rPr>
            <a:t>разработка макета базы данных для сервиса аренды автомобилей, включая ER-диаграмму и SQL-скрипты для обеспечения стабильной работы системы на 1000 клиентов в год.</a:t>
          </a:r>
          <a:endParaRPr sz="1600" kern="1200" dirty="0">
            <a:latin typeface="Times New Roman"/>
            <a:cs typeface="Times New Roman"/>
          </a:endParaRPr>
        </a:p>
      </dsp:txBody>
      <dsp:txXfrm>
        <a:off x="0" y="1023005"/>
        <a:ext cx="5443885" cy="899932"/>
      </dsp:txXfrm>
    </dsp:sp>
    <dsp:sp modelId="{75BE200F-E044-41C2-B262-B80801DAB351}">
      <dsp:nvSpPr>
        <dsp:cNvPr id="0" name=""/>
        <dsp:cNvSpPr/>
      </dsp:nvSpPr>
      <dsp:spPr bwMode="auto">
        <a:xfrm>
          <a:off x="0" y="1929933"/>
          <a:ext cx="5443885" cy="865800"/>
        </a:xfrm>
        <a:prstGeom prst="roundRect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hade val="51000"/>
                <a:satMod val="130000"/>
              </a:schemeClr>
            </a:gs>
            <a:gs pos="80000">
              <a:schemeClr val="accent3">
                <a:hueOff val="2710599"/>
                <a:satOff val="100000"/>
                <a:lumOff val="-14706"/>
                <a:alphaOff val="0"/>
                <a:shade val="93000"/>
                <a:satMod val="13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3700" kern="1200" dirty="0">
              <a:latin typeface="Times New Roman"/>
              <a:cs typeface="Times New Roman"/>
            </a:rPr>
            <a:t>Задачи курсовой работы:</a:t>
          </a:r>
          <a:endParaRPr sz="3700" kern="1200" dirty="0"/>
        </a:p>
      </dsp:txBody>
      <dsp:txXfrm>
        <a:off x="42265" y="1972198"/>
        <a:ext cx="5359355" cy="781270"/>
      </dsp:txXfrm>
    </dsp:sp>
    <dsp:sp modelId="{CC111D21-ED34-4D96-9771-BCE9D52D30D3}">
      <dsp:nvSpPr>
        <dsp:cNvPr id="0" name=""/>
        <dsp:cNvSpPr/>
      </dsp:nvSpPr>
      <dsp:spPr bwMode="auto">
        <a:xfrm>
          <a:off x="0" y="2788737"/>
          <a:ext cx="5443885" cy="1953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843" tIns="20320" rIns="113792" bIns="20320" numCol="1" spcCol="1270" anchor="t" anchorCtr="0">
          <a:noAutofit/>
        </a:bodyPr>
        <a:lstStyle/>
        <a:p>
          <a:pPr marL="171450" lvl="1" indent="-171450" algn="just" defTabSz="711199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  <a:defRPr/>
          </a:pPr>
          <a:r>
            <a:rPr lang="ru-RU" sz="1600" kern="1200" dirty="0" smtClean="0">
              <a:latin typeface="Times New Roman"/>
              <a:cs typeface="Times New Roman"/>
            </a:rPr>
            <a:t>анализ бизнес-процессов и выявление сущностей (клиенты, автомобили, аренды, платежи); </a:t>
          </a:r>
          <a:endParaRPr sz="1600" kern="1200" dirty="0">
            <a:latin typeface="Times New Roman"/>
            <a:cs typeface="Times New Roman"/>
          </a:endParaRPr>
        </a:p>
        <a:p>
          <a:pPr marL="171450" lvl="1" indent="-171450" algn="just" defTabSz="711199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  <a:defRPr/>
          </a:pPr>
          <a:r>
            <a:rPr lang="ru-RU" sz="1600" kern="1200" dirty="0" smtClean="0">
              <a:latin typeface="Times New Roman"/>
              <a:cs typeface="Times New Roman"/>
            </a:rPr>
            <a:t>разработка ER-модели с нормализацией до 3NF; </a:t>
          </a:r>
          <a:endParaRPr sz="1600" kern="1200" dirty="0">
            <a:latin typeface="Times New Roman"/>
            <a:cs typeface="Times New Roman"/>
          </a:endParaRPr>
        </a:p>
        <a:p>
          <a:pPr marL="171450" lvl="1" indent="-171450" algn="just" defTabSz="711199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  <a:defRPr/>
          </a:pPr>
          <a:r>
            <a:rPr lang="ru-RU" sz="1600" kern="1200" dirty="0" smtClean="0">
              <a:latin typeface="Times New Roman"/>
              <a:cs typeface="Times New Roman"/>
            </a:rPr>
            <a:t>создание SQL-скриптов для таблиц, индексов и ограничений; </a:t>
          </a:r>
          <a:endParaRPr sz="1600" kern="1200" dirty="0">
            <a:latin typeface="Times New Roman"/>
            <a:cs typeface="Times New Roman"/>
          </a:endParaRPr>
        </a:p>
        <a:p>
          <a:pPr marL="171450" lvl="1" indent="-171450" algn="just" defTabSz="711199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  <a:defRPr/>
          </a:pPr>
          <a:r>
            <a:rPr lang="ru-RU" sz="1600" kern="1200" dirty="0" smtClean="0">
              <a:latin typeface="Times New Roman"/>
              <a:cs typeface="Times New Roman"/>
            </a:rPr>
            <a:t>описание типовых запросов (поиск доступных авто, отчёты по арендам); </a:t>
          </a:r>
          <a:endParaRPr sz="1600" kern="1200" dirty="0">
            <a:latin typeface="Times New Roman"/>
            <a:cs typeface="Times New Roman"/>
          </a:endParaRPr>
        </a:p>
        <a:p>
          <a:pPr marL="171450" lvl="1" indent="-171450" algn="just" defTabSz="711199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  <a:defRPr/>
          </a:pPr>
          <a:r>
            <a:rPr lang="ru-RU" sz="1600" kern="1200" dirty="0" smtClean="0">
              <a:latin typeface="Times New Roman"/>
              <a:cs typeface="Times New Roman"/>
            </a:rPr>
            <a:t>оценка эффективности макета (производительность, масштабируемость).</a:t>
          </a:r>
          <a:endParaRPr sz="1600" kern="1200" dirty="0">
            <a:latin typeface="Times New Roman"/>
            <a:cs typeface="Times New Roman"/>
          </a:endParaRPr>
        </a:p>
      </dsp:txBody>
      <dsp:txXfrm>
        <a:off x="0" y="2788737"/>
        <a:ext cx="5443885" cy="19530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C03D58-D6C6-497A-A440-3D0AC87FFB8F}">
      <dsp:nvSpPr>
        <dsp:cNvPr id="0" name=""/>
        <dsp:cNvSpPr/>
      </dsp:nvSpPr>
      <dsp:spPr bwMode="auto">
        <a:xfrm>
          <a:off x="1785" y="998763"/>
          <a:ext cx="3583781" cy="1433512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700" kern="1200">
              <a:latin typeface="Times New Roman"/>
              <a:cs typeface="Times New Roman"/>
            </a:rPr>
            <a:t>Объект исследования: </a:t>
          </a:r>
          <a:endParaRPr sz="2700" kern="1200"/>
        </a:p>
      </dsp:txBody>
      <dsp:txXfrm>
        <a:off x="718541" y="998763"/>
        <a:ext cx="2150269" cy="1433512"/>
      </dsp:txXfrm>
    </dsp:sp>
    <dsp:sp modelId="{9D64021F-A1CC-4C85-AFAA-68F2640DBC52}">
      <dsp:nvSpPr>
        <dsp:cNvPr id="0" name=""/>
        <dsp:cNvSpPr/>
      </dsp:nvSpPr>
      <dsp:spPr bwMode="auto">
        <a:xfrm>
          <a:off x="3119675" y="1120612"/>
          <a:ext cx="2974538" cy="1189815"/>
        </a:xfrm>
        <a:prstGeom prst="chevron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1400" b="0" i="0" kern="1200" dirty="0" smtClean="0"/>
            <a:t>Объектом исследования является база данных </a:t>
          </a:r>
          <a:r>
            <a:rPr lang="ru-RU" sz="1400" b="0" i="0" kern="1200" dirty="0" err="1" smtClean="0"/>
            <a:t>автоарендного</a:t>
          </a:r>
          <a:r>
            <a:rPr lang="ru-RU" sz="1400" b="0" i="0" kern="1200" dirty="0" smtClean="0"/>
            <a:t> сервиса</a:t>
          </a:r>
          <a:endParaRPr lang="ru-RU" sz="1400" kern="1200" dirty="0">
            <a:latin typeface="Times New Roman"/>
            <a:cs typeface="Times New Roman"/>
          </a:endParaRPr>
        </a:p>
      </dsp:txBody>
      <dsp:txXfrm>
        <a:off x="3714583" y="1120612"/>
        <a:ext cx="1784723" cy="1189815"/>
      </dsp:txXfrm>
    </dsp:sp>
    <dsp:sp modelId="{8815CA34-2705-4E03-8DF0-8D20745B4324}">
      <dsp:nvSpPr>
        <dsp:cNvPr id="0" name=""/>
        <dsp:cNvSpPr/>
      </dsp:nvSpPr>
      <dsp:spPr bwMode="auto">
        <a:xfrm>
          <a:off x="1785" y="2632967"/>
          <a:ext cx="3583781" cy="1433512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700" kern="1200">
              <a:latin typeface="Times New Roman"/>
              <a:cs typeface="Times New Roman"/>
            </a:rPr>
            <a:t>Предмет исследования: </a:t>
          </a:r>
          <a:endParaRPr sz="2700" kern="1200"/>
        </a:p>
      </dsp:txBody>
      <dsp:txXfrm>
        <a:off x="718541" y="2632967"/>
        <a:ext cx="2150269" cy="1433512"/>
      </dsp:txXfrm>
    </dsp:sp>
    <dsp:sp modelId="{2B919555-B964-4548-9149-F58D531513B5}">
      <dsp:nvSpPr>
        <dsp:cNvPr id="0" name=""/>
        <dsp:cNvSpPr/>
      </dsp:nvSpPr>
      <dsp:spPr bwMode="auto">
        <a:xfrm>
          <a:off x="3119675" y="2754816"/>
          <a:ext cx="2974538" cy="1189815"/>
        </a:xfrm>
        <a:prstGeom prst="chevron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1400" b="0" i="0" kern="1200" dirty="0" smtClean="0"/>
            <a:t>Предметом исследования является процесс разработки и создания макета данной базы данных</a:t>
          </a:r>
          <a:endParaRPr lang="ru-RU" sz="1400" kern="1200" dirty="0">
            <a:latin typeface="Times New Roman"/>
            <a:cs typeface="Times New Roman"/>
          </a:endParaRPr>
        </a:p>
      </dsp:txBody>
      <dsp:txXfrm>
        <a:off x="3714583" y="2754816"/>
        <a:ext cx="1784723" cy="11898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1009509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4100" kern="1200">
              <a:solidFill>
                <a:schemeClr val="tx1"/>
              </a:solidFill>
              <a:latin typeface="Times New Roman"/>
              <a:cs typeface="Times New Roman"/>
            </a:rPr>
            <a:t>Описание предметной области</a:t>
          </a:r>
          <a:endParaRPr sz="4100" kern="1200"/>
        </a:p>
      </dsp:txBody>
      <dsp:txXfrm>
        <a:off x="49280" y="49280"/>
        <a:ext cx="7189150" cy="9109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7161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Логическая модель </a:t>
          </a:r>
          <a:r>
            <a:rPr lang="ru-RU" sz="2600" b="0" kern="1200" dirty="0">
              <a:solidFill>
                <a:schemeClr val="tx1"/>
              </a:solidFill>
              <a:latin typeface="Times New Roman"/>
              <a:cs typeface="Times New Roman"/>
            </a:rPr>
            <a:t>базы </a:t>
          </a: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данных</a:t>
          </a:r>
          <a:endParaRPr kern="1200" dirty="0"/>
        </a:p>
      </dsp:txBody>
      <dsp:txXfrm>
        <a:off x="47701" y="47701"/>
        <a:ext cx="7192308" cy="8817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7161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Физическая модель </a:t>
          </a:r>
          <a:r>
            <a:rPr lang="ru-RU" sz="2600" b="0" kern="1200" dirty="0">
              <a:solidFill>
                <a:schemeClr val="tx1"/>
              </a:solidFill>
              <a:latin typeface="Times New Roman"/>
              <a:cs typeface="Times New Roman"/>
            </a:rPr>
            <a:t>базы </a:t>
          </a: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данных</a:t>
          </a:r>
          <a:endParaRPr sz="2600" b="0" kern="1200" dirty="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701" y="47701"/>
        <a:ext cx="7192308" cy="88175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952"/>
          <a:ext cx="7287710" cy="97415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Создание базы данных</a:t>
          </a:r>
          <a:endParaRPr lang="ru-RU" sz="2600" b="0" kern="1200" dirty="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554" y="48506"/>
        <a:ext cx="7192602" cy="87904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415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Создание таблиц «Клиенты» и «Автомобили»</a:t>
          </a:r>
          <a:endParaRPr lang="ru-RU" sz="2600" b="0" kern="1200" dirty="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554" y="47554"/>
        <a:ext cx="7192602" cy="87904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415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Создание таблиц «Аренды» и «Платежи»</a:t>
          </a:r>
          <a:endParaRPr lang="ru-RU" sz="2600" b="0" kern="1200" dirty="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554" y="47554"/>
        <a:ext cx="7192602" cy="87904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415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Создание индексов в таблицах</a:t>
          </a:r>
          <a:endParaRPr lang="ru-RU" sz="2600" b="0" kern="1200" dirty="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554" y="47554"/>
        <a:ext cx="7192602" cy="87904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415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 dirty="0">
              <a:solidFill>
                <a:schemeClr val="tx1"/>
              </a:solidFill>
              <a:latin typeface="Times New Roman"/>
              <a:cs typeface="Times New Roman"/>
            </a:rPr>
            <a:t>Создание запросов к </a:t>
          </a: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БД</a:t>
          </a:r>
          <a:endParaRPr lang="ru-RU" sz="2600" b="0" kern="1200" dirty="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554" y="47554"/>
        <a:ext cx="7192602" cy="87904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415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>
              <a:solidFill>
                <a:schemeClr val="tx1"/>
              </a:solidFill>
              <a:latin typeface="Times New Roman"/>
              <a:cs typeface="Times New Roman"/>
            </a:rPr>
            <a:t>Создание запросов к БД</a:t>
          </a:r>
          <a:endParaRPr lang="ru-RU" sz="2600" kern="120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554" y="47554"/>
        <a:ext cx="7192602" cy="87904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415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>
              <a:solidFill>
                <a:schemeClr val="tx1"/>
              </a:solidFill>
              <a:latin typeface="Times New Roman"/>
              <a:cs typeface="Times New Roman"/>
            </a:rPr>
            <a:t>Создание запросов к БД</a:t>
          </a:r>
          <a:endParaRPr lang="ru-RU" sz="2600" kern="120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554" y="47554"/>
        <a:ext cx="7192602" cy="87904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97415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2600" b="0" kern="1200" dirty="0">
              <a:solidFill>
                <a:schemeClr val="tx1"/>
              </a:solidFill>
              <a:latin typeface="Times New Roman"/>
              <a:cs typeface="Times New Roman"/>
            </a:rPr>
            <a:t>Создание запросов к </a:t>
          </a:r>
          <a:r>
            <a:rPr lang="ru-RU" sz="2600" b="0" kern="1200" dirty="0" smtClean="0">
              <a:solidFill>
                <a:schemeClr val="tx1"/>
              </a:solidFill>
              <a:latin typeface="Times New Roman"/>
              <a:cs typeface="Times New Roman"/>
            </a:rPr>
            <a:t>БД</a:t>
          </a:r>
          <a:endParaRPr lang="ru-RU" sz="2600" kern="1200" dirty="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47554" y="47554"/>
        <a:ext cx="7192602" cy="87904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1034131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4200" kern="1200">
              <a:solidFill>
                <a:schemeClr val="tx1"/>
              </a:solidFill>
              <a:latin typeface="Times New Roman"/>
              <a:cs typeface="Times New Roman"/>
            </a:rPr>
            <a:t>Оценка эффективности</a:t>
          </a:r>
          <a:endParaRPr sz="4200" kern="1200"/>
        </a:p>
      </dsp:txBody>
      <dsp:txXfrm>
        <a:off x="50482" y="50482"/>
        <a:ext cx="7186746" cy="93316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BF750-7F46-47F9-85D6-289A931F7836}">
      <dsp:nvSpPr>
        <dsp:cNvPr id="0" name=""/>
        <dsp:cNvSpPr/>
      </dsp:nvSpPr>
      <dsp:spPr bwMode="auto">
        <a:xfrm>
          <a:off x="0" y="0"/>
          <a:ext cx="7287710" cy="1034131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defRPr/>
          </a:pPr>
          <a:r>
            <a:rPr lang="ru-RU" sz="4200" kern="1200">
              <a:solidFill>
                <a:schemeClr val="tx1"/>
              </a:solidFill>
              <a:latin typeface="Times New Roman"/>
              <a:cs typeface="Times New Roman"/>
            </a:rPr>
            <a:t>Выводы</a:t>
          </a:r>
          <a:endParaRPr sz="4200" kern="1200"/>
        </a:p>
      </dsp:txBody>
      <dsp:txXfrm>
        <a:off x="50482" y="50482"/>
        <a:ext cx="7186746" cy="9331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#1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Для перемещения страницы щёлкните мышью</a:t>
            </a:r>
            <a:endParaRPr/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defRPr/>
            </a:pPr>
            <a:r>
              <a:rPr lang="ru-RU" sz="2000" b="0" strike="noStrike" spc="-1">
                <a:latin typeface="Arial"/>
              </a:rPr>
              <a:t>Для правки формата примечаний щёлкните мышью</a:t>
            </a:r>
            <a:endParaRPr/>
          </a:p>
        </p:txBody>
      </p:sp>
      <p:sp>
        <p:nvSpPr>
          <p:cNvPr id="128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defRPr/>
            </a:pPr>
            <a:r>
              <a:rPr lang="ru-RU" sz="1400" b="0" strike="noStrike" spc="-1">
                <a:latin typeface="Times New Roman"/>
              </a:rPr>
              <a:t>&lt;верхний колонтитул&gt;</a:t>
            </a:r>
            <a:endParaRPr/>
          </a:p>
        </p:txBody>
      </p:sp>
      <p:sp>
        <p:nvSpPr>
          <p:cNvPr id="129" name="PlaceHolder 4"/>
          <p:cNvSpPr>
            <a:spLocks noGrp="1"/>
          </p:cNvSpPr>
          <p:nvPr>
            <p:ph type="dt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defRPr/>
            </a:pPr>
            <a:r>
              <a:rPr lang="ru-RU" sz="1400" b="0" strike="noStrike" spc="-1">
                <a:latin typeface="Times New Roman"/>
              </a:rPr>
              <a:t>&lt;дата/время&gt;</a:t>
            </a:r>
            <a:endParaRPr/>
          </a:p>
        </p:txBody>
      </p:sp>
      <p:sp>
        <p:nvSpPr>
          <p:cNvPr id="130" name="PlaceHolder 5"/>
          <p:cNvSpPr>
            <a:spLocks noGrp="1"/>
          </p:cNvSpPr>
          <p:nvPr>
            <p:ph type="ftr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>
              <a:defRPr/>
            </a:pPr>
            <a:r>
              <a:rPr lang="ru-RU" sz="1400" b="0" strike="noStrike" spc="-1">
                <a:latin typeface="Times New Roman"/>
              </a:rPr>
              <a:t>&lt;нижний колонтитул&gt;</a:t>
            </a:r>
            <a:endParaRPr/>
          </a:p>
        </p:txBody>
      </p:sp>
      <p:sp>
        <p:nvSpPr>
          <p:cNvPr id="131" name="PlaceHolder 6"/>
          <p:cNvSpPr>
            <a:spLocks noGrp="1"/>
          </p:cNvSpPr>
          <p:nvPr>
            <p:ph type="sldNum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‹#›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52876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Рисунок 1.1 – Контекстная диаграмма</a:t>
            </a: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3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Рисунок 2.1 – Логическая модель базы данных</a:t>
            </a: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4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Рисунок 2.1 – Логическая модель базы данных</a:t>
            </a: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5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Таблица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1 –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клиент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6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Таблица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2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–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договор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7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Таблица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2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–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договор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8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Таблица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2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–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договор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9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Таблица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3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–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услуги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10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Таблица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4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–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цена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11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Таблица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4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–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цена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12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Таблица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4</a:t>
            </a:r>
            <a:r>
              <a:rPr lang="en-US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 – </a:t>
            </a:r>
            <a:r>
              <a:rPr lang="ru-RU" sz="1200" b="0">
                <a:solidFill>
                  <a:schemeClr val="tx1"/>
                </a:solidFill>
                <a:latin typeface="Arial"/>
                <a:ea typeface="DejaVu Sans"/>
                <a:cs typeface="DejaVu Sans"/>
              </a:rPr>
              <a:t>цена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561C9B8F-F0FC-4913-8182-42E0953B3031}" type="slidenum">
              <a:rPr lang="ru-RU" sz="1400" b="0" strike="noStrike" spc="-1">
                <a:latin typeface="Times New Roman"/>
              </a:rPr>
              <a:t>13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 bwMode="auto">
          <a:xfrm>
            <a:off x="5755320" y="2971080"/>
            <a:ext cx="6436440" cy="91187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 bwMode="auto">
          <a:xfrm>
            <a:off x="5755320" y="3164400"/>
            <a:ext cx="6436440" cy="525240"/>
          </a:xfrm>
          <a:prstGeom prst="rect">
            <a:avLst/>
          </a:prstGeom>
        </p:spPr>
        <p:txBody>
          <a:bodyPr lIns="0" tIns="0" rIns="0" bIns="0">
            <a:normAutofit fontScale="7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 bwMode="auto">
          <a:xfrm>
            <a:off x="5755320" y="3164400"/>
            <a:ext cx="3140640" cy="525240"/>
          </a:xfrm>
          <a:prstGeom prst="rect">
            <a:avLst/>
          </a:prstGeom>
        </p:spPr>
        <p:txBody>
          <a:bodyPr lIns="0" tIns="0" rIns="0" bIns="0">
            <a:normAutofit fontScale="39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 bwMode="auto">
          <a:xfrm>
            <a:off x="9053280" y="3164400"/>
            <a:ext cx="3140640" cy="525240"/>
          </a:xfrm>
          <a:prstGeom prst="rect">
            <a:avLst/>
          </a:prstGeom>
        </p:spPr>
        <p:txBody>
          <a:bodyPr lIns="0" tIns="0" rIns="0" bIns="0">
            <a:normAutofit fontScale="39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 bwMode="auto">
          <a:xfrm>
            <a:off x="575532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 bwMode="auto">
          <a:xfrm>
            <a:off x="9053280" y="3164400"/>
            <a:ext cx="3140640" cy="525240"/>
          </a:xfrm>
          <a:prstGeom prst="rect">
            <a:avLst/>
          </a:prstGeom>
        </p:spPr>
        <p:txBody>
          <a:bodyPr lIns="0" tIns="0" rIns="0" bIns="0">
            <a:normAutofit fontScale="39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 bwMode="auto">
          <a:xfrm>
            <a:off x="5755320" y="343872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 bwMode="auto">
          <a:xfrm>
            <a:off x="5755320" y="3164400"/>
            <a:ext cx="3140640" cy="525240"/>
          </a:xfrm>
          <a:prstGeom prst="rect">
            <a:avLst/>
          </a:prstGeom>
        </p:spPr>
        <p:txBody>
          <a:bodyPr lIns="0" tIns="0" rIns="0" bIns="0">
            <a:normAutofit fontScale="39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 bwMode="auto">
          <a:xfrm>
            <a:off x="905328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 bwMode="auto">
          <a:xfrm>
            <a:off x="9053280" y="343872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 bwMode="auto">
          <a:xfrm>
            <a:off x="575532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 bwMode="auto">
          <a:xfrm>
            <a:off x="905328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 bwMode="auto">
          <a:xfrm>
            <a:off x="5755320" y="3438720"/>
            <a:ext cx="6436440" cy="250200"/>
          </a:xfrm>
          <a:prstGeom prst="rect">
            <a:avLst/>
          </a:prstGeom>
        </p:spPr>
        <p:txBody>
          <a:bodyPr lIns="0" tIns="0" rIns="0" bIns="0">
            <a:normAutofit fontScale="2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 bwMode="auto">
          <a:xfrm>
            <a:off x="5755320" y="3164400"/>
            <a:ext cx="6436440" cy="250200"/>
          </a:xfrm>
          <a:prstGeom prst="rect">
            <a:avLst/>
          </a:prstGeom>
        </p:spPr>
        <p:txBody>
          <a:bodyPr lIns="0" tIns="0" rIns="0" bIns="0">
            <a:normAutofit fontScale="2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 bwMode="auto">
          <a:xfrm>
            <a:off x="5755320" y="3438720"/>
            <a:ext cx="6436440" cy="250200"/>
          </a:xfrm>
          <a:prstGeom prst="rect">
            <a:avLst/>
          </a:prstGeom>
        </p:spPr>
        <p:txBody>
          <a:bodyPr lIns="0" tIns="0" rIns="0" bIns="0">
            <a:normAutofit fontScale="2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 bwMode="auto">
          <a:xfrm>
            <a:off x="575532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 bwMode="auto">
          <a:xfrm>
            <a:off x="905328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 bwMode="auto">
          <a:xfrm>
            <a:off x="5755320" y="343872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 bwMode="auto">
          <a:xfrm>
            <a:off x="9053280" y="343872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 bwMode="auto">
          <a:xfrm>
            <a:off x="5755320" y="316440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 bwMode="auto">
          <a:xfrm>
            <a:off x="7931520" y="316440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 bwMode="auto">
          <a:xfrm>
            <a:off x="10107720" y="316440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 bwMode="auto">
          <a:xfrm>
            <a:off x="5755320" y="343872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 bwMode="auto">
          <a:xfrm>
            <a:off x="7931520" y="343872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 bwMode="auto">
          <a:xfrm>
            <a:off x="10107720" y="343872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pPr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ru-RU" sz="60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defRPr/>
            </a:pPr>
            <a:fld id="{98294BE0-D151-463F-BC52-60BC4C1F6494}" type="datetime">
              <a:rPr lang="ru-RU" sz="1200" b="0" strike="noStrike" spc="-1">
                <a:solidFill>
                  <a:srgbClr val="8B8B8B"/>
                </a:solidFill>
                <a:latin typeface="Calibri"/>
              </a:rPr>
              <a:t>24.12.2025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defRPr/>
            </a:pPr>
            <a:endParaRPr lang="ru-RU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defRPr/>
            </a:pPr>
            <a:fld id="{EF0A5624-7E8D-4815-917F-C152E28D75D3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image" Target="../media/image1.png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10" Type="http://schemas.openxmlformats.org/officeDocument/2006/relationships/image" Target="../media/image13.png"/><Relationship Id="rId4" Type="http://schemas.openxmlformats.org/officeDocument/2006/relationships/diagramLayout" Target="../diagrams/layout14.xml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1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 bwMode="auto">
          <a:xfrm>
            <a:off x="1306703" y="492120"/>
            <a:ext cx="9143640" cy="484272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fontScale="77500" lnSpcReduction="20000"/>
          </a:bodyPr>
          <a:lstStyle/>
          <a:p>
            <a:pPr algn="ctr">
              <a:lnSpc>
                <a:spcPct val="90000"/>
              </a:lnSpc>
              <a:defRPr/>
            </a:pPr>
            <a:endParaRPr lang="ru-RU" sz="2100" spc="-1" dirty="0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90000"/>
              </a:lnSpc>
              <a:defRPr/>
            </a:pPr>
            <a:endParaRPr lang="ru-RU" sz="2100" spc="-1" dirty="0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90000"/>
              </a:lnSpc>
              <a:defRPr/>
            </a:pPr>
            <a:r>
              <a:rPr lang="ru-RU" sz="2100" spc="-1" dirty="0">
                <a:solidFill>
                  <a:srgbClr val="000000"/>
                </a:solidFill>
                <a:latin typeface="Times New Roman"/>
              </a:rPr>
              <a:t>ИНСТИТУТ ЭКОНОМИКИ, МАТЕМАТИКИ И </a:t>
            </a:r>
            <a:endParaRPr dirty="0"/>
          </a:p>
          <a:p>
            <a:pPr algn="ctr">
              <a:lnSpc>
                <a:spcPct val="90000"/>
              </a:lnSpc>
              <a:defRPr/>
            </a:pPr>
            <a:r>
              <a:rPr lang="ru-RU" sz="2100" spc="-1" dirty="0">
                <a:solidFill>
                  <a:srgbClr val="000000"/>
                </a:solidFill>
                <a:latin typeface="Times New Roman"/>
              </a:rPr>
              <a:t>ИНФОРМАЦИОННЫХ ТЕХНОЛОГИЙ</a:t>
            </a:r>
            <a:endParaRPr dirty="0"/>
          </a:p>
          <a:p>
            <a:pPr algn="ctr">
              <a:lnSpc>
                <a:spcPct val="90000"/>
              </a:lnSpc>
              <a:defRPr/>
            </a:pPr>
            <a:r>
              <a:rPr lang="ru-RU" sz="2100" spc="-1" dirty="0">
                <a:solidFill>
                  <a:srgbClr val="000000"/>
                </a:solidFill>
                <a:latin typeface="Times New Roman"/>
              </a:rPr>
              <a:t>ФАКУЛЬТЕТ ИНФОРМАЦИОННЫХ ТЕХНОЛОГИЙ И</a:t>
            </a:r>
            <a:endParaRPr dirty="0"/>
          </a:p>
          <a:p>
            <a:pPr algn="ctr">
              <a:lnSpc>
                <a:spcPct val="90000"/>
              </a:lnSpc>
              <a:defRPr/>
            </a:pPr>
            <a:r>
              <a:rPr lang="ru-RU" sz="2100" spc="-1" dirty="0">
                <a:solidFill>
                  <a:srgbClr val="000000"/>
                </a:solidFill>
                <a:latin typeface="Times New Roman"/>
              </a:rPr>
              <a:t> АНАЛИЗА ДАННЫХ</a:t>
            </a:r>
            <a:endParaRPr dirty="0"/>
          </a:p>
          <a:p>
            <a:pPr algn="ctr">
              <a:lnSpc>
                <a:spcPct val="90000"/>
              </a:lnSpc>
              <a:defRPr/>
            </a:pPr>
            <a:r>
              <a:rPr lang="ru-RU" sz="4000" spc="-1" dirty="0">
                <a:solidFill>
                  <a:srgbClr val="000000"/>
                </a:solidFill>
                <a:latin typeface="Times New Roman"/>
              </a:rPr>
              <a:t>                                        </a:t>
            </a:r>
            <a:r>
              <a:rPr lang="ru-RU" sz="1400" spc="-1" dirty="0">
                <a:solidFill>
                  <a:srgbClr val="000000"/>
                </a:solidFill>
                <a:latin typeface="Times New Roman"/>
              </a:rPr>
              <a:t>Кафедра системного анализа и информатики</a:t>
            </a:r>
            <a:endParaRPr dirty="0"/>
          </a:p>
          <a:p>
            <a:pPr algn="ctr">
              <a:lnSpc>
                <a:spcPct val="90000"/>
              </a:lnSpc>
              <a:defRPr/>
            </a:pPr>
            <a:r>
              <a:rPr lang="ru-RU" sz="1400" spc="-1" dirty="0">
                <a:solidFill>
                  <a:srgbClr val="000000"/>
                </a:solidFill>
                <a:latin typeface="Times New Roman"/>
              </a:rPr>
              <a:t>                  					Направление 09.03.03 Прикладная информатика</a:t>
            </a:r>
            <a:endParaRPr dirty="0"/>
          </a:p>
          <a:p>
            <a:pPr>
              <a:defRPr/>
            </a:pPr>
            <a:endParaRPr lang="ru-RU" sz="3200" b="0" strike="noStrike" spc="-1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sz="3200" strike="noStrike" spc="-1" dirty="0">
                <a:solidFill>
                  <a:srgbClr val="000000"/>
                </a:solidFill>
                <a:latin typeface="Times New Roman"/>
                <a:cs typeface="Times New Roman"/>
              </a:rPr>
              <a:t>Курсовая работа </a:t>
            </a:r>
            <a:r>
              <a:rPr lang="ru-RU" sz="3200" dirty="0">
                <a:latin typeface="Times New Roman"/>
                <a:cs typeface="Times New Roman"/>
              </a:rPr>
              <a:t>по дисциплине «Базы данных»</a:t>
            </a:r>
            <a:endParaRPr dirty="0"/>
          </a:p>
          <a:p>
            <a:pPr>
              <a:defRPr/>
            </a:pPr>
            <a:r>
              <a:rPr lang="ru-RU" sz="3200" dirty="0">
                <a:latin typeface="Times New Roman"/>
                <a:cs typeface="Times New Roman"/>
              </a:rPr>
              <a:t> </a:t>
            </a:r>
            <a:endParaRPr dirty="0"/>
          </a:p>
          <a:p>
            <a:pPr algn="ctr">
              <a:defRPr/>
            </a:pPr>
            <a:r>
              <a:rPr lang="ru-RU" sz="3200" dirty="0">
                <a:latin typeface="Times New Roman"/>
                <a:cs typeface="Times New Roman"/>
              </a:rPr>
              <a:t>Тема: </a:t>
            </a:r>
            <a:r>
              <a:rPr lang="ru-RU" sz="3200" dirty="0">
                <a:latin typeface="Times New Roman"/>
                <a:cs typeface="Times New Roman"/>
              </a:rPr>
              <a:t>«</a:t>
            </a:r>
            <a:r>
              <a:rPr lang="ru-RU" sz="3200" dirty="0">
                <a:latin typeface="Times New Roman"/>
                <a:cs typeface="Times New Roman"/>
              </a:rPr>
              <a:t>Создание макета базы данных организации по </a:t>
            </a:r>
            <a:r>
              <a:rPr lang="ru-RU" sz="3200" dirty="0" err="1">
                <a:latin typeface="Times New Roman"/>
                <a:cs typeface="Times New Roman"/>
              </a:rPr>
              <a:t>автоарендному</a:t>
            </a:r>
            <a:r>
              <a:rPr lang="ru-RU" sz="3200" dirty="0">
                <a:latin typeface="Times New Roman"/>
                <a:cs typeface="Times New Roman"/>
              </a:rPr>
              <a:t> сервису</a:t>
            </a:r>
            <a:r>
              <a:rPr lang="ru-RU" sz="3200" dirty="0">
                <a:latin typeface="Times New Roman"/>
                <a:cs typeface="Times New Roman"/>
              </a:rPr>
              <a:t>»</a:t>
            </a:r>
            <a:endParaRPr sz="3200" dirty="0">
              <a:latin typeface="Times New Roman"/>
              <a:cs typeface="Times New Roman"/>
            </a:endParaRPr>
          </a:p>
          <a:p>
            <a:pPr algn="ctr">
              <a:lnSpc>
                <a:spcPct val="90000"/>
              </a:lnSpc>
              <a:defRPr/>
            </a:pPr>
            <a:r>
              <a:rPr sz="3200" dirty="0">
                <a:latin typeface="Times New Roman"/>
                <a:cs typeface="Times New Roman"/>
              </a:rPr>
              <a:t/>
            </a:r>
            <a:br>
              <a:rPr sz="3200" dirty="0">
                <a:latin typeface="Times New Roman"/>
                <a:cs typeface="Times New Roman"/>
              </a:rPr>
            </a:br>
            <a:r>
              <a:rPr dirty="0"/>
              <a:t/>
            </a:r>
            <a:br>
              <a:rPr dirty="0"/>
            </a:br>
            <a:endParaRPr lang="ru-RU" dirty="0"/>
          </a:p>
          <a:p>
            <a:pPr algn="ctr">
              <a:lnSpc>
                <a:spcPct val="90000"/>
              </a:lnSpc>
              <a:defRPr/>
            </a:pPr>
            <a:endParaRPr lang="ru-RU" sz="4000" spc="-1" dirty="0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90000"/>
              </a:lnSpc>
              <a:defRPr/>
            </a:pPr>
            <a:endParaRPr lang="ru-RU" sz="4000" spc="-1" dirty="0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90000"/>
              </a:lnSpc>
              <a:defRPr/>
            </a:pPr>
            <a:r>
              <a:rPr lang="ru-RU" sz="1900" strike="noStrike" spc="-1" dirty="0">
                <a:solidFill>
                  <a:srgbClr val="000000"/>
                </a:solidFill>
                <a:latin typeface="Times New Roman"/>
                <a:cs typeface="Times New Roman"/>
              </a:rPr>
              <a:t>Группа: </a:t>
            </a:r>
            <a:r>
              <a:rPr lang="ru-RU" sz="1900" spc="-1" dirty="0" smtClean="0">
                <a:solidFill>
                  <a:srgbClr val="000000"/>
                </a:solidFill>
                <a:latin typeface="Times New Roman"/>
                <a:cs typeface="Times New Roman"/>
              </a:rPr>
              <a:t>ОБ-АД-23</a:t>
            </a:r>
            <a:r>
              <a:rPr lang="ru-RU" sz="1900" spc="-1" dirty="0" smtClean="0">
                <a:solidFill>
                  <a:srgbClr val="000000"/>
                </a:solidFill>
                <a:latin typeface="Times New Roman"/>
                <a:cs typeface="Times New Roman"/>
              </a:rPr>
              <a:t>                  </a:t>
            </a:r>
            <a:r>
              <a:rPr lang="ru-RU" sz="1900" strike="noStrike" spc="-1" dirty="0">
                <a:solidFill>
                  <a:srgbClr val="000000"/>
                </a:solidFill>
                <a:latin typeface="Times New Roman"/>
                <a:cs typeface="Times New Roman"/>
              </a:rPr>
              <a:t>Студент: </a:t>
            </a:r>
            <a:r>
              <a:rPr lang="ru-RU" sz="1900" strike="noStrike" spc="-1" dirty="0" smtClean="0">
                <a:solidFill>
                  <a:srgbClr val="000000"/>
                </a:solidFill>
                <a:latin typeface="Times New Roman"/>
                <a:cs typeface="Times New Roman"/>
              </a:rPr>
              <a:t>Бондаренко </a:t>
            </a:r>
            <a:r>
              <a:rPr lang="ru-RU" sz="1900" spc="-1" dirty="0" smtClean="0">
                <a:solidFill>
                  <a:srgbClr val="000000"/>
                </a:solidFill>
                <a:latin typeface="Times New Roman"/>
                <a:cs typeface="Times New Roman"/>
              </a:rPr>
              <a:t>Г</a:t>
            </a:r>
            <a:r>
              <a:rPr lang="ru-RU" sz="1900" strike="noStrike" spc="-1" dirty="0" smtClean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lang="ru-RU" sz="1900" spc="-1" dirty="0">
                <a:solidFill>
                  <a:srgbClr val="000000"/>
                </a:solidFill>
                <a:latin typeface="Times New Roman"/>
                <a:cs typeface="Times New Roman"/>
              </a:rPr>
              <a:t>А</a:t>
            </a:r>
            <a:r>
              <a:rPr lang="ru-RU" sz="1900" spc="-1" dirty="0" smtClean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lang="ru-RU" sz="1900" strike="noStrike" spc="-1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sz="1900" strike="noStrike" spc="-1" dirty="0">
                <a:solidFill>
                  <a:srgbClr val="000000"/>
                </a:solidFill>
                <a:latin typeface="Times New Roman"/>
                <a:cs typeface="Times New Roman"/>
              </a:rPr>
              <a:t>		Руководитель: </a:t>
            </a:r>
            <a:r>
              <a:rPr lang="ru-RU" sz="1900" dirty="0">
                <a:latin typeface="Times New Roman"/>
                <a:cs typeface="Times New Roman"/>
              </a:rPr>
              <a:t>к.э.н. Федосеев А.И.</a:t>
            </a:r>
            <a:endParaRPr dirty="0"/>
          </a:p>
          <a:p>
            <a:pPr algn="ctr">
              <a:lnSpc>
                <a:spcPct val="90000"/>
              </a:lnSpc>
              <a:defRPr/>
            </a:pPr>
            <a:endParaRPr lang="ru-RU" sz="2000" strike="noStrike" spc="-1" dirty="0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90000"/>
              </a:lnSpc>
              <a:defRPr/>
            </a:pPr>
            <a:endParaRPr lang="ru-RU" sz="40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" name="Picture 3"/>
          <p:cNvPicPr/>
          <p:nvPr/>
        </p:nvPicPr>
        <p:blipFill>
          <a:blip r:embed="rId2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/>
        </p:nvGraphicFramePr>
        <p:xfrm>
          <a:off x="3010756" y="516240"/>
          <a:ext cx="7287710" cy="1040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Схема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170406"/>
              </p:ext>
            </p:extLst>
          </p:nvPr>
        </p:nvGraphicFramePr>
        <p:xfrm>
          <a:off x="430439" y="1681920"/>
          <a:ext cx="5443885" cy="4898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Схема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0361360"/>
              </p:ext>
            </p:extLst>
          </p:nvPr>
        </p:nvGraphicFramePr>
        <p:xfrm>
          <a:off x="6096000" y="1681920"/>
          <a:ext cx="6096000" cy="5065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pic>
        <p:nvPicPr>
          <p:cNvPr id="8" name="Picture 3"/>
          <p:cNvPicPr/>
          <p:nvPr/>
        </p:nvPicPr>
        <p:blipFill>
          <a:blip r:embed="rId17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/>
        </p:nvGraphicFramePr>
        <p:xfrm>
          <a:off x="2872210" y="390245"/>
          <a:ext cx="7287710" cy="1040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7848600" y="2057400"/>
            <a:ext cx="4343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На диаграмме отображены:</a:t>
            </a:r>
            <a:endParaRPr dirty="0"/>
          </a:p>
          <a:p>
            <a:pPr>
              <a:defRPr/>
            </a:pP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• входные данные (заявка клиента на выбор авто и дат</a:t>
            </a:r>
            <a:r>
              <a:rPr lang="ru-RU" dirty="0">
                <a:latin typeface="Times New Roman"/>
                <a:cs typeface="Times New Roman"/>
              </a:rPr>
              <a:t>); </a:t>
            </a:r>
            <a:endParaRPr lang="ru-RU" dirty="0" smtClean="0">
              <a:latin typeface="Times New Roman"/>
              <a:cs typeface="Times New Roman"/>
            </a:endParaRPr>
          </a:p>
          <a:p>
            <a:pPr>
              <a:defRPr/>
            </a:pP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• </a:t>
            </a:r>
            <a:r>
              <a:rPr lang="ru-RU" dirty="0">
                <a:latin typeface="Times New Roman"/>
                <a:cs typeface="Times New Roman"/>
              </a:rPr>
              <a:t>основные шаги (проверка доступности, оформление, выдача, возврат); </a:t>
            </a:r>
            <a:endParaRPr lang="ru-RU" dirty="0" smtClean="0">
              <a:latin typeface="Times New Roman"/>
              <a:cs typeface="Times New Roman"/>
            </a:endParaRPr>
          </a:p>
          <a:p>
            <a:pPr>
              <a:defRPr/>
            </a:pP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• выходные </a:t>
            </a:r>
            <a:r>
              <a:rPr lang="ru-RU" dirty="0">
                <a:latin typeface="Times New Roman"/>
                <a:cs typeface="Times New Roman"/>
              </a:rPr>
              <a:t>данные (подтверждение, статусы, расчёты); </a:t>
            </a:r>
            <a:endParaRPr lang="ru-RU" dirty="0" smtClean="0">
              <a:latin typeface="Times New Roman"/>
              <a:cs typeface="Times New Roman"/>
            </a:endParaRPr>
          </a:p>
          <a:p>
            <a:pPr>
              <a:defRPr/>
            </a:pP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• </a:t>
            </a:r>
            <a:r>
              <a:rPr lang="ru-RU" dirty="0">
                <a:latin typeface="Times New Roman"/>
                <a:cs typeface="Times New Roman"/>
              </a:rPr>
              <a:t>роль базы данных (фиксация, обновление, хранение).</a:t>
            </a:r>
          </a:p>
        </p:txBody>
      </p:sp>
      <p:pic>
        <p:nvPicPr>
          <p:cNvPr id="7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1026" name="Picture 2" descr="Car Rental Booking and-2025-12-24-103544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683" y="1568758"/>
            <a:ext cx="4605880" cy="4996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4819591"/>
              </p:ext>
            </p:extLst>
          </p:nvPr>
        </p:nvGraphicFramePr>
        <p:xfrm>
          <a:off x="3010756" y="516241"/>
          <a:ext cx="7287710" cy="977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6654611" y="2698621"/>
            <a:ext cx="55370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Структура:</a:t>
            </a:r>
            <a:endParaRPr lang="en-US" dirty="0">
              <a:latin typeface="Times New Roman"/>
              <a:cs typeface="Times New Roman"/>
            </a:endParaRPr>
          </a:p>
          <a:p>
            <a:pPr>
              <a:defRPr/>
            </a:pP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• </a:t>
            </a:r>
            <a:r>
              <a:rPr lang="ru-RU" dirty="0">
                <a:latin typeface="Times New Roman"/>
                <a:cs typeface="Times New Roman"/>
              </a:rPr>
              <a:t>С</a:t>
            </a:r>
            <a:r>
              <a:rPr lang="ru-RU" dirty="0" smtClean="0">
                <a:latin typeface="Times New Roman"/>
                <a:cs typeface="Times New Roman"/>
              </a:rPr>
              <a:t>ущности</a:t>
            </a:r>
            <a:r>
              <a:rPr lang="ru-RU" dirty="0">
                <a:latin typeface="Times New Roman"/>
                <a:cs typeface="Times New Roman"/>
              </a:rPr>
              <a:t>: </a:t>
            </a:r>
            <a:r>
              <a:rPr lang="ru-RU" dirty="0" smtClean="0">
                <a:latin typeface="Times New Roman"/>
                <a:cs typeface="Times New Roman"/>
              </a:rPr>
              <a:t>Клиенты, Машины, Договоры, Платежи; </a:t>
            </a: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• </a:t>
            </a:r>
            <a:r>
              <a:rPr lang="ru-RU" dirty="0" smtClean="0">
                <a:latin typeface="Times New Roman"/>
                <a:cs typeface="Times New Roman"/>
              </a:rPr>
              <a:t>Атрибуты</a:t>
            </a:r>
            <a:r>
              <a:rPr lang="en-US" dirty="0" smtClean="0">
                <a:latin typeface="Times New Roman"/>
                <a:cs typeface="Times New Roman"/>
              </a:rPr>
              <a:t>; </a:t>
            </a: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dirty="0">
                <a:latin typeface="Times New Roman"/>
                <a:cs typeface="Times New Roman"/>
              </a:rPr>
              <a:t>• </a:t>
            </a:r>
            <a:r>
              <a:rPr lang="ru-RU" dirty="0">
                <a:latin typeface="Times New Roman"/>
                <a:cs typeface="Times New Roman"/>
              </a:rPr>
              <a:t>К</a:t>
            </a:r>
            <a:r>
              <a:rPr lang="ru-RU" dirty="0" smtClean="0">
                <a:latin typeface="Times New Roman"/>
                <a:cs typeface="Times New Roman"/>
              </a:rPr>
              <a:t>лючи</a:t>
            </a:r>
            <a:r>
              <a:rPr lang="en-US" dirty="0" smtClean="0">
                <a:latin typeface="Times New Roman"/>
                <a:cs typeface="Times New Roman"/>
              </a:rPr>
              <a:t>; </a:t>
            </a: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dirty="0">
                <a:latin typeface="Times New Roman"/>
                <a:cs typeface="Times New Roman"/>
              </a:rPr>
              <a:t>• </a:t>
            </a:r>
            <a:r>
              <a:rPr lang="ru-RU" dirty="0">
                <a:latin typeface="Times New Roman"/>
                <a:cs typeface="Times New Roman"/>
              </a:rPr>
              <a:t>С</a:t>
            </a:r>
            <a:r>
              <a:rPr lang="ru-RU" dirty="0" smtClean="0">
                <a:latin typeface="Times New Roman"/>
                <a:cs typeface="Times New Roman"/>
              </a:rPr>
              <a:t>вязи.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9" name="Рисунок 8" descr="Untitled (2).png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80" y="1836550"/>
            <a:ext cx="5897655" cy="392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7509809"/>
              </p:ext>
            </p:extLst>
          </p:nvPr>
        </p:nvGraphicFramePr>
        <p:xfrm>
          <a:off x="3010756" y="516241"/>
          <a:ext cx="7287710" cy="977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6" name="Рисунок 5" descr="Untitled (5).png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80" y="1906292"/>
            <a:ext cx="6153253" cy="377383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 bwMode="auto">
          <a:xfrm>
            <a:off x="6654611" y="2698621"/>
            <a:ext cx="46346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Структура:</a:t>
            </a:r>
            <a:endParaRPr lang="en-US" dirty="0">
              <a:latin typeface="Times New Roman"/>
              <a:cs typeface="Times New Roman"/>
            </a:endParaRPr>
          </a:p>
          <a:p>
            <a:pPr>
              <a:defRPr/>
            </a:pP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• </a:t>
            </a:r>
            <a:r>
              <a:rPr lang="ru-RU" dirty="0">
                <a:latin typeface="Times New Roman"/>
                <a:cs typeface="Times New Roman"/>
              </a:rPr>
              <a:t>С</a:t>
            </a:r>
            <a:r>
              <a:rPr lang="ru-RU" dirty="0" smtClean="0">
                <a:latin typeface="Times New Roman"/>
                <a:cs typeface="Times New Roman"/>
              </a:rPr>
              <a:t>ущности</a:t>
            </a:r>
            <a:r>
              <a:rPr lang="ru-RU" dirty="0">
                <a:latin typeface="Times New Roman"/>
                <a:cs typeface="Times New Roman"/>
              </a:rPr>
              <a:t>: </a:t>
            </a:r>
            <a:r>
              <a:rPr lang="en-US" dirty="0" smtClean="0">
                <a:latin typeface="Times New Roman"/>
                <a:cs typeface="Times New Roman"/>
              </a:rPr>
              <a:t>Clients</a:t>
            </a:r>
            <a:r>
              <a:rPr lang="ru-RU" dirty="0" smtClean="0">
                <a:latin typeface="Times New Roman"/>
                <a:cs typeface="Times New Roman"/>
              </a:rPr>
              <a:t>, </a:t>
            </a:r>
            <a:r>
              <a:rPr lang="en-US" dirty="0" smtClean="0">
                <a:latin typeface="Times New Roman"/>
                <a:cs typeface="Times New Roman"/>
              </a:rPr>
              <a:t>Cars</a:t>
            </a:r>
            <a:r>
              <a:rPr lang="ru-RU" dirty="0" smtClean="0">
                <a:latin typeface="Times New Roman"/>
                <a:cs typeface="Times New Roman"/>
              </a:rPr>
              <a:t>, </a:t>
            </a:r>
            <a:r>
              <a:rPr lang="en-US" dirty="0" smtClean="0">
                <a:latin typeface="Times New Roman"/>
                <a:cs typeface="Times New Roman"/>
              </a:rPr>
              <a:t>Rentals</a:t>
            </a:r>
            <a:r>
              <a:rPr lang="ru-RU" dirty="0" smtClean="0">
                <a:latin typeface="Times New Roman"/>
                <a:cs typeface="Times New Roman"/>
              </a:rPr>
              <a:t>, </a:t>
            </a:r>
            <a:r>
              <a:rPr lang="en-US" dirty="0" smtClean="0">
                <a:latin typeface="Times New Roman"/>
                <a:cs typeface="Times New Roman"/>
              </a:rPr>
              <a:t>Payments</a:t>
            </a:r>
            <a:r>
              <a:rPr lang="ru-RU" dirty="0" smtClean="0">
                <a:latin typeface="Times New Roman"/>
                <a:cs typeface="Times New Roman"/>
              </a:rPr>
              <a:t>; </a:t>
            </a: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• </a:t>
            </a:r>
            <a:r>
              <a:rPr lang="ru-RU" dirty="0" smtClean="0">
                <a:latin typeface="Times New Roman"/>
                <a:cs typeface="Times New Roman"/>
              </a:rPr>
              <a:t>Атрибуты</a:t>
            </a:r>
            <a:r>
              <a:rPr lang="en-US" dirty="0" smtClean="0">
                <a:latin typeface="Times New Roman"/>
                <a:cs typeface="Times New Roman"/>
              </a:rPr>
              <a:t>; </a:t>
            </a: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dirty="0">
                <a:latin typeface="Times New Roman"/>
                <a:cs typeface="Times New Roman"/>
              </a:rPr>
              <a:t>• </a:t>
            </a:r>
            <a:r>
              <a:rPr lang="ru-RU" dirty="0">
                <a:latin typeface="Times New Roman"/>
                <a:cs typeface="Times New Roman"/>
              </a:rPr>
              <a:t>К</a:t>
            </a:r>
            <a:r>
              <a:rPr lang="ru-RU" dirty="0" smtClean="0">
                <a:latin typeface="Times New Roman"/>
                <a:cs typeface="Times New Roman"/>
              </a:rPr>
              <a:t>лючи</a:t>
            </a:r>
            <a:r>
              <a:rPr lang="en-US" dirty="0" smtClean="0">
                <a:latin typeface="Times New Roman"/>
                <a:cs typeface="Times New Roman"/>
              </a:rPr>
              <a:t>; </a:t>
            </a:r>
            <a:endParaRPr lang="ru-RU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dirty="0">
                <a:latin typeface="Times New Roman"/>
                <a:cs typeface="Times New Roman"/>
              </a:rPr>
              <a:t>• </a:t>
            </a:r>
            <a:r>
              <a:rPr lang="ru-RU" dirty="0">
                <a:latin typeface="Times New Roman"/>
                <a:cs typeface="Times New Roman"/>
              </a:rPr>
              <a:t>С</a:t>
            </a:r>
            <a:r>
              <a:rPr lang="ru-RU" dirty="0" smtClean="0">
                <a:latin typeface="Times New Roman"/>
                <a:cs typeface="Times New Roman"/>
              </a:rPr>
              <a:t>вязи.</a:t>
            </a:r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3604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9551086"/>
              </p:ext>
            </p:extLst>
          </p:nvPr>
        </p:nvGraphicFramePr>
        <p:xfrm>
          <a:off x="3010756" y="516240"/>
          <a:ext cx="7287710" cy="97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5" name="Рисунок 4"/>
          <p:cNvPicPr/>
          <p:nvPr/>
        </p:nvPicPr>
        <p:blipFill>
          <a:blip r:embed="rId9"/>
          <a:stretch>
            <a:fillRect/>
          </a:stretch>
        </p:blipFill>
        <p:spPr>
          <a:xfrm>
            <a:off x="2830182" y="2058798"/>
            <a:ext cx="6740019" cy="39700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6053880"/>
              </p:ext>
            </p:extLst>
          </p:nvPr>
        </p:nvGraphicFramePr>
        <p:xfrm>
          <a:off x="3010756" y="516240"/>
          <a:ext cx="7287710" cy="97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7" name="Рисунок 6"/>
          <p:cNvPicPr/>
          <p:nvPr/>
        </p:nvPicPr>
        <p:blipFill>
          <a:blip r:embed="rId9"/>
          <a:stretch>
            <a:fillRect/>
          </a:stretch>
        </p:blipFill>
        <p:spPr>
          <a:xfrm>
            <a:off x="3401943" y="2049276"/>
            <a:ext cx="5757556" cy="46342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2940126"/>
              </p:ext>
            </p:extLst>
          </p:nvPr>
        </p:nvGraphicFramePr>
        <p:xfrm>
          <a:off x="3010756" y="516240"/>
          <a:ext cx="7287710" cy="97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5" name="Рисунок 4"/>
          <p:cNvPicPr/>
          <p:nvPr/>
        </p:nvPicPr>
        <p:blipFill>
          <a:blip r:embed="rId9"/>
          <a:stretch>
            <a:fillRect/>
          </a:stretch>
        </p:blipFill>
        <p:spPr bwMode="auto">
          <a:xfrm>
            <a:off x="3487119" y="1697065"/>
            <a:ext cx="6207072" cy="484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5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015086"/>
              </p:ext>
            </p:extLst>
          </p:nvPr>
        </p:nvGraphicFramePr>
        <p:xfrm>
          <a:off x="3010756" y="516240"/>
          <a:ext cx="7287710" cy="97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7" name="Рисунок 6"/>
          <p:cNvPicPr/>
          <p:nvPr/>
        </p:nvPicPr>
        <p:blipFill>
          <a:blip r:embed="rId9"/>
          <a:stretch>
            <a:fillRect/>
          </a:stretch>
        </p:blipFill>
        <p:spPr>
          <a:xfrm>
            <a:off x="2168213" y="2115895"/>
            <a:ext cx="8758093" cy="400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3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4393876"/>
              </p:ext>
            </p:extLst>
          </p:nvPr>
        </p:nvGraphicFramePr>
        <p:xfrm>
          <a:off x="3010756" y="516240"/>
          <a:ext cx="7287710" cy="97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8" name="Рисунок 7"/>
          <p:cNvPicPr/>
          <p:nvPr/>
        </p:nvPicPr>
        <p:blipFill>
          <a:blip r:embed="rId9"/>
          <a:stretch>
            <a:fillRect/>
          </a:stretch>
        </p:blipFill>
        <p:spPr>
          <a:xfrm>
            <a:off x="3246562" y="1737360"/>
            <a:ext cx="5943934" cy="43147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/>
        </p:nvGraphicFramePr>
        <p:xfrm>
          <a:off x="3010756" y="516240"/>
          <a:ext cx="7287710" cy="97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5" name="Рисунок 4"/>
          <p:cNvPicPr/>
          <p:nvPr/>
        </p:nvPicPr>
        <p:blipFill>
          <a:blip r:embed="rId9"/>
          <a:stretch>
            <a:fillRect/>
          </a:stretch>
        </p:blipFill>
        <p:spPr>
          <a:xfrm>
            <a:off x="2684823" y="1708467"/>
            <a:ext cx="7195346" cy="45993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/>
        </p:nvGraphicFramePr>
        <p:xfrm>
          <a:off x="3010756" y="516240"/>
          <a:ext cx="7287710" cy="97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7" name="Рисунок 6"/>
          <p:cNvPicPr/>
          <p:nvPr/>
        </p:nvPicPr>
        <p:blipFill>
          <a:blip r:embed="rId9"/>
          <a:stretch>
            <a:fillRect/>
          </a:stretch>
        </p:blipFill>
        <p:spPr>
          <a:xfrm>
            <a:off x="2485928" y="2013649"/>
            <a:ext cx="7990926" cy="392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74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7375189"/>
              </p:ext>
            </p:extLst>
          </p:nvPr>
        </p:nvGraphicFramePr>
        <p:xfrm>
          <a:off x="3010756" y="516240"/>
          <a:ext cx="7287710" cy="97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3"/>
          <p:cNvPicPr/>
          <p:nvPr/>
        </p:nvPicPr>
        <p:blipFill>
          <a:blip r:embed="rId8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pic>
        <p:nvPicPr>
          <p:cNvPr id="5" name="Рисунок 4"/>
          <p:cNvPicPr/>
          <p:nvPr/>
        </p:nvPicPr>
        <p:blipFill>
          <a:blip r:embed="rId9"/>
          <a:stretch>
            <a:fillRect/>
          </a:stretch>
        </p:blipFill>
        <p:spPr>
          <a:xfrm>
            <a:off x="6906958" y="1933087"/>
            <a:ext cx="3864363" cy="4494509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10"/>
          <a:stretch>
            <a:fillRect/>
          </a:stretch>
        </p:blipFill>
        <p:spPr>
          <a:xfrm>
            <a:off x="1628759" y="2743971"/>
            <a:ext cx="3208020" cy="28727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 bwMode="auto">
          <a:xfrm>
            <a:off x="592462" y="2184280"/>
            <a:ext cx="5280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dirty="0" smtClean="0">
                <a:latin typeface="Times New Roman"/>
                <a:cs typeface="Times New Roman"/>
              </a:rPr>
              <a:t>Созданные представления и пример их применения</a:t>
            </a:r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9842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/>
        </p:nvGraphicFramePr>
        <p:xfrm>
          <a:off x="3010756" y="516240"/>
          <a:ext cx="7287710" cy="1040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3"/>
          <p:cNvPicPr/>
          <p:nvPr/>
        </p:nvPicPr>
        <p:blipFill>
          <a:blip r:embed="rId7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6" name="Текстовое поле 4"/>
          <p:cNvSpPr txBox="1"/>
          <p:nvPr/>
        </p:nvSpPr>
        <p:spPr bwMode="auto">
          <a:xfrm>
            <a:off x="0" y="1972988"/>
            <a:ext cx="124636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dirty="0">
                <a:latin typeface="Times New Roman"/>
                <a:cs typeface="Times New Roman"/>
              </a:rPr>
              <a:t>Высокая </a:t>
            </a:r>
            <a:r>
              <a:rPr lang="ru-RU" dirty="0" smtClean="0">
                <a:latin typeface="Times New Roman"/>
                <a:cs typeface="Times New Roman"/>
              </a:rPr>
              <a:t>производительность:</a:t>
            </a:r>
          </a:p>
          <a:p>
            <a:pPr>
              <a:defRPr/>
            </a:pPr>
            <a:r>
              <a:rPr lang="ru-RU" dirty="0" smtClean="0">
                <a:latin typeface="Times New Roman"/>
                <a:cs typeface="Times New Roman"/>
              </a:rPr>
              <a:t>	Оптимизация процессов аренды на 30–40% (сокращение времени на обработку заявки с 15–20 мин до 3–5 мин).</a:t>
            </a:r>
          </a:p>
          <a:p>
            <a:pPr>
              <a:defRPr/>
            </a:pPr>
            <a:endParaRPr lang="ru-RU" dirty="0" smtClean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dirty="0" smtClean="0">
                <a:latin typeface="Times New Roman"/>
                <a:cs typeface="Times New Roman"/>
              </a:rPr>
              <a:t>Учёт </a:t>
            </a:r>
            <a:r>
              <a:rPr lang="ru-RU" dirty="0">
                <a:latin typeface="Times New Roman"/>
                <a:cs typeface="Times New Roman"/>
              </a:rPr>
              <a:t>специфики сервиса</a:t>
            </a:r>
            <a:r>
              <a:rPr lang="ru-RU" dirty="0" smtClean="0">
                <a:latin typeface="Times New Roman"/>
                <a:cs typeface="Times New Roman"/>
              </a:rPr>
              <a:t>:</a:t>
            </a:r>
          </a:p>
          <a:p>
            <a:pPr>
              <a:defRPr/>
            </a:pPr>
            <a:r>
              <a:rPr lang="ru-RU" dirty="0" smtClean="0">
                <a:latin typeface="Times New Roman"/>
                <a:cs typeface="Times New Roman"/>
              </a:rPr>
              <a:t>	Снижение </a:t>
            </a:r>
            <a:r>
              <a:rPr lang="ru-RU" dirty="0">
                <a:latin typeface="Times New Roman"/>
                <a:cs typeface="Times New Roman"/>
              </a:rPr>
              <a:t>ошибок (двойное бронирование) на 15–20%, экономия от простоев авто — 25–50 тыс. руб. в год</a:t>
            </a:r>
            <a:r>
              <a:rPr lang="ru-RU" dirty="0" smtClean="0">
                <a:latin typeface="Times New Roman"/>
                <a:cs typeface="Times New Roman"/>
              </a:rPr>
              <a:t>.</a:t>
            </a:r>
          </a:p>
          <a:p>
            <a:pPr>
              <a:defRPr/>
            </a:pPr>
            <a:endParaRPr lang="ru-RU" dirty="0" smtClean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dirty="0" smtClean="0">
                <a:latin typeface="Times New Roman"/>
                <a:cs typeface="Times New Roman"/>
              </a:rPr>
              <a:t>Отчётность:</a:t>
            </a:r>
          </a:p>
          <a:p>
            <a:pPr>
              <a:defRPr/>
            </a:pPr>
            <a:r>
              <a:rPr lang="ru-RU" dirty="0" smtClean="0">
                <a:latin typeface="Times New Roman"/>
                <a:cs typeface="Times New Roman"/>
              </a:rPr>
              <a:t>	Автоматические </a:t>
            </a:r>
            <a:r>
              <a:rPr lang="ru-RU" dirty="0">
                <a:latin typeface="Times New Roman"/>
                <a:cs typeface="Times New Roman"/>
              </a:rPr>
              <a:t>отчёты по выручке и загрузке, время на подготовку сокращено на 40</a:t>
            </a:r>
            <a:r>
              <a:rPr lang="ru-RU" dirty="0" smtClean="0">
                <a:latin typeface="Times New Roman"/>
                <a:cs typeface="Times New Roman"/>
              </a:rPr>
              <a:t>%.</a:t>
            </a:r>
          </a:p>
          <a:p>
            <a:pPr>
              <a:defRPr/>
            </a:pPr>
            <a:endParaRPr lang="ru-RU" dirty="0" smtClean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ru-RU" dirty="0" smtClean="0">
                <a:latin typeface="Times New Roman"/>
                <a:cs typeface="Times New Roman"/>
              </a:rPr>
              <a:t>Гибкость </a:t>
            </a:r>
            <a:r>
              <a:rPr lang="ru-RU" dirty="0">
                <a:latin typeface="Times New Roman"/>
                <a:cs typeface="Times New Roman"/>
              </a:rPr>
              <a:t>системы</a:t>
            </a:r>
            <a:r>
              <a:rPr lang="ru-RU" dirty="0" smtClean="0">
                <a:latin typeface="Times New Roman"/>
                <a:cs typeface="Times New Roman"/>
              </a:rPr>
              <a:t>:</a:t>
            </a:r>
          </a:p>
          <a:p>
            <a:pPr>
              <a:defRPr/>
            </a:pPr>
            <a:r>
              <a:rPr lang="ru-RU" dirty="0" smtClean="0">
                <a:latin typeface="Times New Roman"/>
                <a:cs typeface="Times New Roman"/>
              </a:rPr>
              <a:t>	Масштабирование </a:t>
            </a:r>
            <a:r>
              <a:rPr lang="ru-RU" dirty="0">
                <a:latin typeface="Times New Roman"/>
                <a:cs typeface="Times New Roman"/>
              </a:rPr>
              <a:t>при росте (добавление сущностей, индексация для быстрого поиска).</a:t>
            </a:r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>
            <a:graphicFrameLocks/>
          </p:cNvGraphicFramePr>
          <p:nvPr/>
        </p:nvGraphicFramePr>
        <p:xfrm>
          <a:off x="3010756" y="516240"/>
          <a:ext cx="7287710" cy="1040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 bwMode="auto">
          <a:xfrm>
            <a:off x="1545772" y="2514601"/>
            <a:ext cx="102325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ru-RU" dirty="0" smtClean="0"/>
              <a:t>Разработан </a:t>
            </a:r>
            <a:r>
              <a:rPr lang="ru-RU" dirty="0"/>
              <a:t>макет базы данных для </a:t>
            </a:r>
            <a:r>
              <a:rPr lang="ru-RU" dirty="0" err="1"/>
              <a:t>автоарендного</a:t>
            </a:r>
            <a:r>
              <a:rPr lang="ru-RU" dirty="0"/>
              <a:t> сервиса с 4 сущностями и связями</a:t>
            </a:r>
            <a:r>
              <a:rPr lang="ru-RU" dirty="0" smtClean="0"/>
              <a:t>;</a:t>
            </a:r>
          </a:p>
          <a:p>
            <a:pPr marL="285750" indent="-285750">
              <a:buFont typeface="Arial"/>
              <a:buChar char="•"/>
              <a:defRPr/>
            </a:pPr>
            <a:endParaRPr lang="ru-RU" dirty="0" smtClean="0"/>
          </a:p>
          <a:p>
            <a:pPr marL="285750" indent="-285750">
              <a:buFont typeface="Arial"/>
              <a:buChar char="•"/>
              <a:defRPr/>
            </a:pPr>
            <a:r>
              <a:rPr lang="ru-RU" dirty="0" smtClean="0"/>
              <a:t>Учтены </a:t>
            </a:r>
            <a:r>
              <a:rPr lang="ru-RU" dirty="0"/>
              <a:t>бизнес-процессы, специфика (доступность авто, платежи), потребности пользователей</a:t>
            </a:r>
            <a:r>
              <a:rPr lang="ru-RU" dirty="0" smtClean="0"/>
              <a:t>;</a:t>
            </a:r>
          </a:p>
          <a:p>
            <a:pPr marL="285750" indent="-285750">
              <a:buFont typeface="Arial"/>
              <a:buChar char="•"/>
              <a:defRPr/>
            </a:pPr>
            <a:endParaRPr lang="ru-RU" dirty="0" smtClean="0"/>
          </a:p>
          <a:p>
            <a:pPr marL="285750" indent="-285750">
              <a:buFont typeface="Arial"/>
              <a:buChar char="•"/>
              <a:defRPr/>
            </a:pPr>
            <a:r>
              <a:rPr lang="ru-RU" dirty="0" smtClean="0"/>
              <a:t>Произведён </a:t>
            </a:r>
            <a:r>
              <a:rPr lang="ru-RU" dirty="0"/>
              <a:t>анализ предметной области и выделены ключевые функции</a:t>
            </a:r>
            <a:r>
              <a:rPr lang="ru-RU" dirty="0" smtClean="0"/>
              <a:t>;</a:t>
            </a:r>
          </a:p>
          <a:p>
            <a:pPr marL="285750" indent="-285750">
              <a:buFont typeface="Arial"/>
              <a:buChar char="•"/>
              <a:defRPr/>
            </a:pPr>
            <a:endParaRPr lang="ru-RU" dirty="0" smtClean="0"/>
          </a:p>
          <a:p>
            <a:pPr marL="285750" indent="-285750">
              <a:buFont typeface="Arial"/>
              <a:buChar char="•"/>
              <a:defRPr/>
            </a:pPr>
            <a:r>
              <a:rPr lang="ru-RU" dirty="0" smtClean="0"/>
              <a:t>Созданы </a:t>
            </a:r>
            <a:r>
              <a:rPr lang="ru-RU" dirty="0"/>
              <a:t>SQL-скрипты для таблиц, запросов и представлений</a:t>
            </a:r>
            <a:r>
              <a:rPr lang="ru-RU" dirty="0" smtClean="0"/>
              <a:t>;</a:t>
            </a:r>
          </a:p>
          <a:p>
            <a:pPr marL="285750" indent="-285750">
              <a:buFont typeface="Arial"/>
              <a:buChar char="•"/>
              <a:defRPr/>
            </a:pPr>
            <a:endParaRPr lang="ru-RU" dirty="0" smtClean="0"/>
          </a:p>
          <a:p>
            <a:pPr marL="285750" indent="-285750">
              <a:buFont typeface="Arial"/>
              <a:buChar char="•"/>
              <a:defRPr/>
            </a:pPr>
            <a:r>
              <a:rPr lang="ru-RU" dirty="0" smtClean="0"/>
              <a:t>Проведена </a:t>
            </a:r>
            <a:r>
              <a:rPr lang="ru-RU" dirty="0"/>
              <a:t>нормализация, тестирование и оценка эффективности</a:t>
            </a:r>
            <a:r>
              <a:rPr lang="ru-RU" dirty="0" smtClean="0"/>
              <a:t>;</a:t>
            </a:r>
          </a:p>
          <a:p>
            <a:pPr marL="285750" indent="-285750">
              <a:buFont typeface="Arial"/>
              <a:buChar char="•"/>
              <a:defRPr/>
            </a:pPr>
            <a:endParaRPr lang="ru-RU" dirty="0" smtClean="0"/>
          </a:p>
          <a:p>
            <a:pPr marL="285750" indent="-285750">
              <a:buFont typeface="Arial"/>
              <a:buChar char="•"/>
              <a:defRPr/>
            </a:pPr>
            <a:r>
              <a:rPr lang="ru-RU" dirty="0" smtClean="0"/>
              <a:t>Макет </a:t>
            </a:r>
            <a:r>
              <a:rPr lang="ru-RU" dirty="0"/>
              <a:t>готов к внедрению, с потенциалом масштабирования.</a:t>
            </a:r>
            <a:endParaRPr dirty="0"/>
          </a:p>
        </p:txBody>
      </p:sp>
      <p:pic>
        <p:nvPicPr>
          <p:cNvPr id="6" name="Picture 3"/>
          <p:cNvPicPr/>
          <p:nvPr/>
        </p:nvPicPr>
        <p:blipFill>
          <a:blip r:embed="rId7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 bwMode="auto">
          <a:xfrm>
            <a:off x="3494314" y="2950028"/>
            <a:ext cx="50206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sz="4000">
                <a:latin typeface="Times New Roman"/>
                <a:cs typeface="Times New Roman"/>
              </a:rPr>
              <a:t>Спасибо за внимание!</a:t>
            </a:r>
            <a:endParaRPr/>
          </a:p>
        </p:txBody>
      </p:sp>
      <p:pic>
        <p:nvPicPr>
          <p:cNvPr id="6" name="Picture 3"/>
          <p:cNvPicPr/>
          <p:nvPr/>
        </p:nvPicPr>
        <p:blipFill>
          <a:blip r:embed="rId2"/>
          <a:stretch/>
        </p:blipFill>
        <p:spPr bwMode="auto">
          <a:xfrm>
            <a:off x="299880" y="492120"/>
            <a:ext cx="2447640" cy="788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</TotalTime>
  <Words>421</Words>
  <Application>Microsoft Office PowerPoint</Application>
  <DocSecurity>0</DocSecurity>
  <PresentationFormat>Произвольный</PresentationFormat>
  <Paragraphs>109</Paragraphs>
  <Slides>16</Slides>
  <Notes>11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Слияния и поглощения в практике организационного развития и управления на примере компании</dc:title>
  <dc:creator>Бондаренко Г.А.</dc:creator>
  <cp:lastModifiedBy>Бондаренко Г.А.</cp:lastModifiedBy>
  <cp:revision>131</cp:revision>
  <dcterms:created xsi:type="dcterms:W3CDTF">2020-04-28T15:23:41Z</dcterms:created>
  <dcterms:modified xsi:type="dcterms:W3CDTF">2025-12-24T17:07:48Z</dcterms:modified>
  <dc:identifier/>
  <dc:language>ru-RU</dc:language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Широкоэкранный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